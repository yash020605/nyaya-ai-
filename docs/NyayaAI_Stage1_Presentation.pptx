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2377440"/>
          </a:xfrm>
          <a:prstGeom prst="rect">
            <a:avLst/>
          </a:prstGeom>
          <a:noFill/>
        </p:spPr>
        <p:txBody>
          <a:bodyPr wrap="square">
            <a:spAutoFit/>
          </a:bodyPr>
          <a:lstStyle/>
          <a:p>
            <a:pPr algn="ctr">
              <a:defRPr sz="1400" b="1">
                <a:solidFill>
                  <a:srgbClr val="D97706"/>
                </a:solidFill>
              </a:defRPr>
            </a:pPr>
            <a:r>
              <a:t>PROJECT STAGE-I PRESENTATION</a:t>
            </a:r>
          </a:p>
          <a:p>
            <a:pPr algn="ctr">
              <a:defRPr sz="2600" b="1">
                <a:solidFill>
                  <a:srgbClr val="FFFFFF"/>
                </a:solidFill>
              </a:defRPr>
            </a:pPr>
            <a:r>
              <a:t>NyayaAI: Autonomous Judicial Intelligence &amp; Legal Drafting Framework for Indian Criminal Law Using Hybrid RAG and Self-Grounding Verification</a:t>
            </a:r>
          </a:p>
          <a:p>
            <a:pPr algn="ctr">
              <a:defRPr sz="1400" i="1">
                <a:solidFill>
                  <a:srgbClr val="E2E8F0"/>
                </a:solidFill>
              </a:defRPr>
            </a:pPr>
            <a:r>
              <a:t>Integrating Multimodal FIR Ingestion, 10,000+ Landmark Precedents, Offline ML Profiling &amp; Supreme Court Drafting</a:t>
            </a:r>
          </a:p>
        </p:txBody>
      </p:sp>
      <p:sp>
        <p:nvSpPr>
          <p:cNvPr id="4" name="Rounded Rectangle 3"/>
          <p:cNvSpPr/>
          <p:nvPr/>
        </p:nvSpPr>
        <p:spPr>
          <a:xfrm>
            <a:off x="1097280" y="3383280"/>
            <a:ext cx="4754880" cy="2377440"/>
          </a:xfrm>
          <a:prstGeom prst="roundRect">
            <a:avLst/>
          </a:prstGeom>
          <a:solidFill>
            <a:srgbClr val="1E293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365760" tIns="274320" wrap="square"/>
          <a:lstStyle/>
          <a:p>
            <a:pPr algn="ctr">
              <a:defRPr sz="1300" b="1">
                <a:solidFill>
                  <a:srgbClr val="D97706"/>
                </a:solidFill>
              </a:defRPr>
            </a:pPr>
            <a:r>
              <a:t>MENTORS &amp; GUIDES</a:t>
            </a:r>
          </a:p>
          <a:p>
            <a:br/>
            <a:pPr>
              <a:defRPr sz="1200">
                <a:solidFill>
                  <a:srgbClr val="FFFFFF"/>
                </a:solidFill>
              </a:defRPr>
            </a:pPr>
            <a:r>
              <a:t>Internal Guide:</a:t>
            </a:r>
            <a:br/>
            <a:r>
              <a:t>Prof. Pooja Dehankar</a:t>
            </a:r>
            <a:br/>
            <a:r>
              <a:t>Department of AI &amp; Data Science, ADYPSOE</a:t>
            </a:r>
          </a:p>
          <a:p>
            <a:br/>
            <a:pPr>
              <a:defRPr sz="1200">
                <a:solidFill>
                  <a:srgbClr val="FFFFFF"/>
                </a:solidFill>
              </a:defRPr>
            </a:pPr>
            <a:r>
              <a:t>External Guide / Sponsoring Institute:</a:t>
            </a:r>
            <a:br/>
            <a:r>
              <a:t>Prof. Nagesh Sawant</a:t>
            </a:r>
            <a:br/>
            <a:r>
              <a:t>Ajeenkya D Y Patil Law School, Pune</a:t>
            </a:r>
          </a:p>
        </p:txBody>
      </p:sp>
      <p:sp>
        <p:nvSpPr>
          <p:cNvPr id="5" name="Rounded Rectangle 4"/>
          <p:cNvSpPr/>
          <p:nvPr/>
        </p:nvSpPr>
        <p:spPr>
          <a:xfrm>
            <a:off x="6309360" y="3383280"/>
            <a:ext cx="4754880" cy="2377440"/>
          </a:xfrm>
          <a:prstGeom prst="roundRect">
            <a:avLst/>
          </a:prstGeom>
          <a:solidFill>
            <a:srgbClr val="1E293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365760" tIns="274320" wrap="square"/>
          <a:lstStyle/>
          <a:p>
            <a:pPr algn="ctr">
              <a:defRPr sz="1300" b="1">
                <a:solidFill>
                  <a:srgbClr val="D97706"/>
                </a:solidFill>
              </a:defRPr>
            </a:pPr>
            <a:r>
              <a:t>PROJECT METADATA &amp; PRESENTERS</a:t>
            </a:r>
          </a:p>
          <a:p>
            <a:br/>
            <a:pPr>
              <a:defRPr sz="1200">
                <a:solidFill>
                  <a:srgbClr val="FFFFFF"/>
                </a:solidFill>
              </a:defRPr>
            </a:pPr>
            <a:r>
              <a:t>Academic Details:</a:t>
            </a:r>
            <a:br/>
            <a:r>
              <a:t>• Group ID: 35 | Class: BE SEM-I</a:t>
            </a:r>
            <a:br/>
            <a:r>
              <a:t>• Academic Year: 2026-27</a:t>
            </a:r>
            <a:br/>
            <a:r>
              <a:t>• Department: Artificial Intelligence &amp; Data Science</a:t>
            </a:r>
            <a:br/>
            <a:r>
              <a:t>• Institute: Ajeenkya DY Patil School of Engineering, Pune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Department &amp; Institute Vision and Mission</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371600"/>
            <a:ext cx="512064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274320" wrap="square"/>
          <a:lstStyle/>
          <a:p>
            <a:pPr algn="ctr">
              <a:defRPr sz="1300" b="1">
                <a:solidFill>
                  <a:srgbClr val="1E3A8A"/>
                </a:solidFill>
              </a:defRPr>
            </a:pPr>
            <a:r>
              <a:t>DEPARTMENT OF ARTIFICIAL INTELLIGENCE &amp; DATA SCIENCE</a:t>
            </a:r>
          </a:p>
          <a:p>
            <a:br/>
            <a:pPr>
              <a:defRPr sz="1300" b="1">
                <a:solidFill>
                  <a:srgbClr val="D97706"/>
                </a:solidFill>
              </a:defRPr>
            </a:pPr>
            <a:r>
              <a:t>Department Vision:</a:t>
            </a:r>
          </a:p>
          <a:p>
            <a:pPr>
              <a:defRPr sz="1200">
                <a:solidFill>
                  <a:srgbClr val="1E293B"/>
                </a:solidFill>
              </a:defRPr>
            </a:pPr>
            <a:r>
              <a:t>Imparting quality education in the field of Artificial Intelligence and Data Science.</a:t>
            </a:r>
          </a:p>
          <a:p>
            <a:br/>
            <a:pPr>
              <a:defRPr sz="1300" b="1">
                <a:solidFill>
                  <a:srgbClr val="D97706"/>
                </a:solidFill>
              </a:defRPr>
            </a:pPr>
            <a:r>
              <a:t>Department Mission:</a:t>
            </a:r>
          </a:p>
          <a:p>
            <a:pPr>
              <a:defRPr sz="1100">
                <a:solidFill>
                  <a:srgbClr val="1E293B"/>
                </a:solidFill>
              </a:defRPr>
            </a:pPr>
            <a:r>
              <a:t>• To include the culture of R&amp;D to meet future challenges in AI &amp; DS.</a:t>
            </a:r>
            <a:br/>
            <a:r>
              <a:t>• To develop technical skills among students for building intelligent systems to solve real-world problems.</a:t>
            </a:r>
            <a:br/>
            <a:r>
              <a:t>• To develop entrepreneurship skills in various areas among students.</a:t>
            </a:r>
            <a:br/>
            <a:r>
              <a:t>• To include moral, social, and ethical values to make students best citizens.</a:t>
            </a:r>
          </a:p>
        </p:txBody>
      </p:sp>
      <p:sp>
        <p:nvSpPr>
          <p:cNvPr id="6" name="Rounded Rectangle 5"/>
          <p:cNvSpPr/>
          <p:nvPr/>
        </p:nvSpPr>
        <p:spPr>
          <a:xfrm>
            <a:off x="6309360" y="1371600"/>
            <a:ext cx="512064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274320" wrap="square"/>
          <a:lstStyle/>
          <a:p>
            <a:pPr algn="ctr">
              <a:defRPr sz="1300" b="1">
                <a:solidFill>
                  <a:srgbClr val="1E3A8A"/>
                </a:solidFill>
              </a:defRPr>
            </a:pPr>
            <a:r>
              <a:t>AJEENKYA DY PATIL SCHOOL OF ENGINEERING, PUNE</a:t>
            </a:r>
          </a:p>
          <a:p>
            <a:br/>
            <a:pPr>
              <a:defRPr sz="1300" b="1">
                <a:solidFill>
                  <a:srgbClr val="D97706"/>
                </a:solidFill>
              </a:defRPr>
            </a:pPr>
            <a:r>
              <a:t>Institute Vision:</a:t>
            </a:r>
          </a:p>
          <a:p>
            <a:pPr>
              <a:defRPr sz="1200">
                <a:solidFill>
                  <a:srgbClr val="1E293B"/>
                </a:solidFill>
              </a:defRPr>
            </a:pPr>
            <a:r>
              <a:t>Empowerment through quality technical education.</a:t>
            </a:r>
          </a:p>
          <a:p>
            <a:br/>
            <a:pPr>
              <a:defRPr sz="1300" b="1">
                <a:solidFill>
                  <a:srgbClr val="D97706"/>
                </a:solidFill>
              </a:defRPr>
            </a:pPr>
            <a:r>
              <a:t>Institute Mission:</a:t>
            </a:r>
          </a:p>
          <a:p>
            <a:pPr>
              <a:defRPr sz="1100">
                <a:solidFill>
                  <a:srgbClr val="1E293B"/>
                </a:solidFill>
              </a:defRPr>
            </a:pPr>
            <a:r>
              <a:t>• To excel as a center of excellence in technical education.</a:t>
            </a:r>
            <a:br/>
            <a:r>
              <a:t>• To impart skill-based education to meet the needs of industry and society.</a:t>
            </a:r>
            <a:br/>
            <a:r>
              <a:t>• To achieve excellence in teaching, learning, and research.</a:t>
            </a:r>
            <a:br/>
            <a:r>
              <a:t>• To inculcate social and ethical values among students.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Flow of Presentation</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371600"/>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01. Abstract</a:t>
            </a:r>
          </a:p>
          <a:p>
            <a:pPr>
              <a:defRPr sz="1000">
                <a:solidFill>
                  <a:srgbClr val="64748B"/>
                </a:solidFill>
              </a:defRPr>
            </a:pPr>
            <a:r>
              <a:t>Executive summary of judicial AI challenges &amp; proposed framework</a:t>
            </a:r>
          </a:p>
        </p:txBody>
      </p:sp>
      <p:sp>
        <p:nvSpPr>
          <p:cNvPr id="6" name="Rounded Rectangle 5"/>
          <p:cNvSpPr/>
          <p:nvPr/>
        </p:nvSpPr>
        <p:spPr>
          <a:xfrm>
            <a:off x="731520" y="2221992"/>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02. Introduction</a:t>
            </a:r>
          </a:p>
          <a:p>
            <a:pPr>
              <a:defRPr sz="1000">
                <a:solidFill>
                  <a:srgbClr val="64748B"/>
                </a:solidFill>
              </a:defRPr>
            </a:pPr>
            <a:r>
              <a:t>Indian criminal justice landscape, backlog, and statutory transitions</a:t>
            </a:r>
          </a:p>
        </p:txBody>
      </p:sp>
      <p:sp>
        <p:nvSpPr>
          <p:cNvPr id="7" name="Rounded Rectangle 6"/>
          <p:cNvSpPr/>
          <p:nvPr/>
        </p:nvSpPr>
        <p:spPr>
          <a:xfrm>
            <a:off x="731520" y="3072384"/>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03. Problem Statement</a:t>
            </a:r>
          </a:p>
          <a:p>
            <a:pPr>
              <a:defRPr sz="1000">
                <a:solidFill>
                  <a:srgbClr val="64748B"/>
                </a:solidFill>
              </a:defRPr>
            </a:pPr>
            <a:r>
              <a:t>Core friction points: Hallucinations, BNS/BNSS ambiguity, manual drafting</a:t>
            </a:r>
          </a:p>
        </p:txBody>
      </p:sp>
      <p:sp>
        <p:nvSpPr>
          <p:cNvPr id="8" name="Rounded Rectangle 7"/>
          <p:cNvSpPr/>
          <p:nvPr/>
        </p:nvSpPr>
        <p:spPr>
          <a:xfrm>
            <a:off x="731520" y="3922776"/>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04. Motivation</a:t>
            </a:r>
          </a:p>
          <a:p>
            <a:pPr>
              <a:defRPr sz="1000">
                <a:solidFill>
                  <a:srgbClr val="64748B"/>
                </a:solidFill>
              </a:defRPr>
            </a:pPr>
            <a:r>
              <a:t>Societal impact, undertrial relief, and Article 21 constitutional guarantees</a:t>
            </a:r>
          </a:p>
        </p:txBody>
      </p:sp>
      <p:sp>
        <p:nvSpPr>
          <p:cNvPr id="9" name="Rounded Rectangle 8"/>
          <p:cNvSpPr/>
          <p:nvPr/>
        </p:nvSpPr>
        <p:spPr>
          <a:xfrm>
            <a:off x="731520" y="4773168"/>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05. Aim, Scope &amp; Objectives</a:t>
            </a:r>
          </a:p>
          <a:p>
            <a:pPr>
              <a:defRPr sz="1000">
                <a:solidFill>
                  <a:srgbClr val="64748B"/>
                </a:solidFill>
              </a:defRPr>
            </a:pPr>
            <a:r>
              <a:t>Specific technical goals, deliverables, and boundaries of the project</a:t>
            </a:r>
          </a:p>
        </p:txBody>
      </p:sp>
      <p:sp>
        <p:nvSpPr>
          <p:cNvPr id="10" name="Rounded Rectangle 9"/>
          <p:cNvSpPr/>
          <p:nvPr/>
        </p:nvSpPr>
        <p:spPr>
          <a:xfrm>
            <a:off x="731520" y="5623560"/>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06. Literature Survey</a:t>
            </a:r>
          </a:p>
          <a:p>
            <a:pPr>
              <a:defRPr sz="1000">
                <a:solidFill>
                  <a:srgbClr val="64748B"/>
                </a:solidFill>
              </a:defRPr>
            </a:pPr>
            <a:r>
              <a:t>Critical evaluation of 10 landmark papers across Legal AI &amp; RAG</a:t>
            </a:r>
          </a:p>
        </p:txBody>
      </p:sp>
      <p:sp>
        <p:nvSpPr>
          <p:cNvPr id="11" name="Rounded Rectangle 10"/>
          <p:cNvSpPr/>
          <p:nvPr/>
        </p:nvSpPr>
        <p:spPr>
          <a:xfrm>
            <a:off x="6309360" y="1371600"/>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07. Project Workflow</a:t>
            </a:r>
          </a:p>
          <a:p>
            <a:pPr>
              <a:defRPr sz="1000">
                <a:solidFill>
                  <a:srgbClr val="64748B"/>
                </a:solidFill>
              </a:defRPr>
            </a:pPr>
            <a:r>
              <a:t>4-Stage pipeline from FIR ingestion to court-ready petition output</a:t>
            </a:r>
          </a:p>
        </p:txBody>
      </p:sp>
      <p:sp>
        <p:nvSpPr>
          <p:cNvPr id="12" name="Rounded Rectangle 11"/>
          <p:cNvSpPr/>
          <p:nvPr/>
        </p:nvSpPr>
        <p:spPr>
          <a:xfrm>
            <a:off x="6309360" y="2221992"/>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08. Data Flow Diagrams</a:t>
            </a:r>
          </a:p>
          <a:p>
            <a:pPr>
              <a:defRPr sz="1000">
                <a:solidFill>
                  <a:srgbClr val="64748B"/>
                </a:solidFill>
              </a:defRPr>
            </a:pPr>
            <a:r>
              <a:t>DFD Level 0, Level 1, and Level 2 architectural views</a:t>
            </a:r>
          </a:p>
        </p:txBody>
      </p:sp>
      <p:sp>
        <p:nvSpPr>
          <p:cNvPr id="13" name="Rounded Rectangle 12"/>
          <p:cNvSpPr/>
          <p:nvPr/>
        </p:nvSpPr>
        <p:spPr>
          <a:xfrm>
            <a:off x="6309360" y="3072384"/>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09. System Architecture &amp; Algorithms</a:t>
            </a:r>
          </a:p>
          <a:p>
            <a:pPr>
              <a:defRPr sz="1000">
                <a:solidFill>
                  <a:srgbClr val="64748B"/>
                </a:solidFill>
              </a:defRPr>
            </a:pPr>
            <a:r>
              <a:t>Detailed LangGraph orchestrator, multi-source retrieval &amp; math basis</a:t>
            </a:r>
          </a:p>
        </p:txBody>
      </p:sp>
      <p:sp>
        <p:nvSpPr>
          <p:cNvPr id="14" name="Rounded Rectangle 13"/>
          <p:cNvSpPr/>
          <p:nvPr/>
        </p:nvSpPr>
        <p:spPr>
          <a:xfrm>
            <a:off x="6309360" y="3922776"/>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10. Project Work Done Till Now</a:t>
            </a:r>
          </a:p>
          <a:p>
            <a:pPr>
              <a:defRPr sz="1000">
                <a:solidFill>
                  <a:srgbClr val="64748B"/>
                </a:solidFill>
              </a:defRPr>
            </a:pPr>
            <a:r>
              <a:t>Verified deliverables: FastAPI, Qdrant 10k index, ML profiler, bilingual UI</a:t>
            </a:r>
          </a:p>
        </p:txBody>
      </p:sp>
      <p:sp>
        <p:nvSpPr>
          <p:cNvPr id="15" name="Rounded Rectangle 14"/>
          <p:cNvSpPr/>
          <p:nvPr/>
        </p:nvSpPr>
        <p:spPr>
          <a:xfrm>
            <a:off x="6309360" y="4773168"/>
            <a:ext cx="512064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1300" b="1">
                <a:solidFill>
                  <a:srgbClr val="1E3A8A"/>
                </a:solidFill>
              </a:defRPr>
            </a:pPr>
            <a:r>
              <a:t>11. References</a:t>
            </a:r>
          </a:p>
          <a:p>
            <a:pPr>
              <a:defRPr sz="1000">
                <a:solidFill>
                  <a:srgbClr val="64748B"/>
                </a:solidFill>
              </a:defRPr>
            </a:pPr>
            <a:r>
              <a:t>Standard IEEE academic citations supporting research methodology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Abstract</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28016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457200" rIns="457200" tIns="274320" wrap="square"/>
          <a:lstStyle/>
          <a:p>
            <a:pPr algn="ctr">
              <a:defRPr sz="1200">
                <a:solidFill>
                  <a:srgbClr val="1E293B"/>
                </a:solidFill>
              </a:defRPr>
            </a:pPr>
            <a:r>
              <a:t>The Indian judicial ecosystem is strained by over 45 million pending cases, creating an acute crisis of judicial delay and prolonged undertrial detentions. Furthermore, India's historic criminal law overhaul—transitioning from colonial statutes (IPC 1860, CrPC 1973, Evidence Act 1872) to the newly enacted Bharatiya Nyaya Sanhita (BNS 2023), Bharatiya Nagarik Suraksha Sanhita (BNSS 2023), and Bharatiya Sakshya Adhiniyam (BSA 2023)—introduces severe cross-referencing friction, statutory confusion, and citation errors for litigators.</a:t>
            </a:r>
          </a:p>
          <a:p>
            <a:br/>
            <a:pPr>
              <a:defRPr sz="1200">
                <a:solidFill>
                  <a:srgbClr val="1E293B"/>
                </a:solidFill>
              </a:defRPr>
            </a:pPr>
            <a:r>
              <a:t>This project presents NyayaAI, an autonomous agentic judicial intelligence and decision support platform engineered specifically for Indian criminal jurisprudence. The framework natively ingests noisy, scanned, or digital First Information Reports (FIRs) using an in-memory PyMuPDF rasterization pipeline with zero external binary dependencies. It extracts structured legal entities, including applied penal sections, suspect attributes, incident chronologies, and crime modus operandi.</a:t>
            </a:r>
          </a:p>
          <a:p>
            <a:br/>
            <a:pPr>
              <a:defRPr sz="1200">
                <a:solidFill>
                  <a:srgbClr val="1E293B"/>
                </a:solidFill>
              </a:defRPr>
            </a:pPr>
            <a:r>
              <a:t>NyayaAI features a parallel multi-source retrieval engine over 10,000+ landmark Supreme Court and High Court precedents indexed in Qdrant (384-dimensional dense vectors using BAAI/bge-small-en-v1.5), canonical statutory masters (BNS, BNSS, and the Constitution of India), and an offline Machine Learning profiler (KNN suspect MO matching and Random Forest recidivism risk classification).</a:t>
            </a:r>
          </a:p>
          <a:p>
            <a:br/>
            <a:pPr>
              <a:defRPr sz="1200">
                <a:solidFill>
                  <a:srgbClr val="1E293B"/>
                </a:solidFill>
              </a:defRPr>
            </a:pPr>
            <a:r>
              <a:t>To eliminate generative hallucinations, a deterministic Citation Verification Node audits all generated citations against verified statutory databases and outputs an empirical Grounding Confidence Score (Cg). The platform compiles court-ready Supreme Court Order XXI Special Leave Petitions and regional Marathi district court bail petitions.</a:t>
            </a:r>
          </a:p>
          <a:p>
            <a:br/>
            <a:pPr>
              <a:defRPr sz="1100" b="1">
                <a:solidFill>
                  <a:srgbClr val="D97706"/>
                </a:solidFill>
              </a:defRPr>
            </a:pPr>
            <a:r>
              <a:t>Keywords: Legal Artificial Intelligence, Hybrid RAG, Indian Criminal Law, Bharatiya Nyaya Sanhita (BNS), Bharatiya Nagarik Suraksha Sanhita (BNSS), Citation Verification, LangGraph, Supreme Court Drafting, Machine Learning Profiling.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Introduction</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280160"/>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50">
                <a:solidFill>
                  <a:srgbClr val="1E293B"/>
                </a:solidFill>
              </a:defRPr>
            </a:pPr>
            <a:r>
              <a:t>⚖️ Severe Case Pendency:  India's courts face an unprecedented backlog (&gt;45 million cases), where undertrials languish for months awaiting routine bail hearings due to fragmented manual research.</a:t>
            </a:r>
          </a:p>
        </p:txBody>
      </p:sp>
      <p:sp>
        <p:nvSpPr>
          <p:cNvPr id="6" name="Rounded Rectangle 5"/>
          <p:cNvSpPr/>
          <p:nvPr/>
        </p:nvSpPr>
        <p:spPr>
          <a:xfrm>
            <a:off x="731520" y="1993392"/>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50">
                <a:solidFill>
                  <a:srgbClr val="1E293B"/>
                </a:solidFill>
              </a:defRPr>
            </a:pPr>
            <a:r>
              <a:t>📜 Historic Statutory Transition:  The replacement of IPC, CrPC, and Evidence Act by BNS 2023, BNSS 2023, and BSA 2023 necessitates continuous dual cross-mapping between legacy and new provisions.</a:t>
            </a:r>
          </a:p>
        </p:txBody>
      </p:sp>
      <p:sp>
        <p:nvSpPr>
          <p:cNvPr id="7" name="Rounded Rectangle 6"/>
          <p:cNvSpPr/>
          <p:nvPr/>
        </p:nvSpPr>
        <p:spPr>
          <a:xfrm>
            <a:off x="731520" y="2706624"/>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50">
                <a:solidFill>
                  <a:srgbClr val="1E293B"/>
                </a:solidFill>
              </a:defRPr>
            </a:pPr>
            <a:r>
              <a:t>📄 Messy First Information Reports:  Police FIRs are routinely unstructured, handwritten, stamped, or scanned with high noise, making automated digital entity parsing challenging.</a:t>
            </a:r>
          </a:p>
        </p:txBody>
      </p:sp>
      <p:sp>
        <p:nvSpPr>
          <p:cNvPr id="8" name="Rounded Rectangle 7"/>
          <p:cNvSpPr/>
          <p:nvPr/>
        </p:nvSpPr>
        <p:spPr>
          <a:xfrm>
            <a:off x="731520" y="3419856"/>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50">
                <a:solidFill>
                  <a:srgbClr val="1E293B"/>
                </a:solidFill>
              </a:defRPr>
            </a:pPr>
            <a:r>
              <a:t>🧠 LLM Hallucination Vulnerability:  Commercial foundation LLMs hallucinate nonexistent citations, invalid benches, and fabricated legal ratios in up to 35% of legal queries, making unverified AI dangerous in court.</a:t>
            </a:r>
          </a:p>
        </p:txBody>
      </p:sp>
      <p:sp>
        <p:nvSpPr>
          <p:cNvPr id="9" name="Rounded Rectangle 8"/>
          <p:cNvSpPr/>
          <p:nvPr/>
        </p:nvSpPr>
        <p:spPr>
          <a:xfrm>
            <a:off x="731520" y="4133088"/>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50">
                <a:solidFill>
                  <a:srgbClr val="1E293B"/>
                </a:solidFill>
              </a:defRPr>
            </a:pPr>
            <a:r>
              <a:t>🔍 Dense Semantic Precedent Search:  Dense neural vector embeddings (BAAI/bge-small-en-v1.5) indexed in Qdrant unlock sub-second precedent discovery across 10,000+ Supreme Court rulings.</a:t>
            </a:r>
          </a:p>
        </p:txBody>
      </p:sp>
      <p:sp>
        <p:nvSpPr>
          <p:cNvPr id="10" name="Rounded Rectangle 9"/>
          <p:cNvSpPr/>
          <p:nvPr/>
        </p:nvSpPr>
        <p:spPr>
          <a:xfrm>
            <a:off x="731520" y="4846320"/>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50">
                <a:solidFill>
                  <a:srgbClr val="1E293B"/>
                </a:solidFill>
              </a:defRPr>
            </a:pPr>
            <a:r>
              <a:t>🛡️ Offline ML Suspect Profiling:  K-Nearest Neighbors (KNN) and Random Forest models correlate suspect physical traits and modus operandi to predict recidivism risk for objective bail arguments.</a:t>
            </a:r>
          </a:p>
        </p:txBody>
      </p:sp>
      <p:sp>
        <p:nvSpPr>
          <p:cNvPr id="11" name="Rounded Rectangle 10"/>
          <p:cNvSpPr/>
          <p:nvPr/>
        </p:nvSpPr>
        <p:spPr>
          <a:xfrm>
            <a:off x="731520" y="5559552"/>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50">
                <a:solidFill>
                  <a:srgbClr val="1E293B"/>
                </a:solidFill>
              </a:defRPr>
            </a:pPr>
            <a:r>
              <a:t>🌐 Bilingual Judicial Democratization:  Supreme Court Order XXI petitions in English and grassroots District &amp; Sessions Court bail applications in Marathi bridge the regional judicial divide.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Core Concept: The NyayaAI Judicial Pipeline</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463040"/>
            <a:ext cx="3383280" cy="219456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defRPr sz="1300" b="1">
                <a:solidFill>
                  <a:srgbClr val="1E3A8A"/>
                </a:solidFill>
              </a:defRPr>
            </a:pPr>
            <a:r>
              <a:t>STEP 1: INPUT INGESTION</a:t>
            </a:r>
          </a:p>
          <a:p>
            <a:br/>
            <a:pPr>
              <a:defRPr sz="1100">
                <a:solidFill>
                  <a:srgbClr val="1E293B"/>
                </a:solidFill>
              </a:defRPr>
            </a:pPr>
            <a:r>
              <a:t>Messy FIRs (PDF / Images / Plaintext)</a:t>
            </a:r>
            <a:br/>
            <a:r>
              <a:t>Arrest Memos &amp; Case Facts</a:t>
            </a:r>
          </a:p>
        </p:txBody>
      </p:sp>
      <p:sp>
        <p:nvSpPr>
          <p:cNvPr id="6" name="Rounded Rectangle 5"/>
          <p:cNvSpPr/>
          <p:nvPr/>
        </p:nvSpPr>
        <p:spPr>
          <a:xfrm>
            <a:off x="4389120" y="1463040"/>
            <a:ext cx="3383280" cy="219456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defRPr sz="1300" b="1">
                <a:solidFill>
                  <a:srgbClr val="1E3A8A"/>
                </a:solidFill>
              </a:defRPr>
            </a:pPr>
            <a:r>
              <a:t>STEP 2: DATA PROCESSING</a:t>
            </a:r>
          </a:p>
          <a:p>
            <a:br/>
            <a:pPr>
              <a:defRPr sz="1100">
                <a:solidFill>
                  <a:srgbClr val="1E293B"/>
                </a:solidFill>
              </a:defRPr>
            </a:pPr>
            <a:r>
              <a:t>PyMuPDF In-Memory Rasterization</a:t>
            </a:r>
            <a:br/>
            <a:r>
              <a:t>Regex &amp; LLM Legal Entity Parser</a:t>
            </a:r>
          </a:p>
        </p:txBody>
      </p:sp>
      <p:sp>
        <p:nvSpPr>
          <p:cNvPr id="7" name="Rounded Rectangle 6"/>
          <p:cNvSpPr/>
          <p:nvPr/>
        </p:nvSpPr>
        <p:spPr>
          <a:xfrm>
            <a:off x="8046720" y="1463040"/>
            <a:ext cx="3383280" cy="219456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defRPr sz="1300" b="1">
                <a:solidFill>
                  <a:srgbClr val="D97706"/>
                </a:solidFill>
              </a:defRPr>
            </a:pPr>
            <a:r>
              <a:t>STEP 3: MULTI-SOURCE RETRIEVAL</a:t>
            </a:r>
          </a:p>
          <a:p>
            <a:br/>
            <a:pPr>
              <a:defRPr sz="1100">
                <a:solidFill>
                  <a:srgbClr val="1E293B"/>
                </a:solidFill>
              </a:defRPr>
            </a:pPr>
            <a:r>
              <a:t>• Qdrant: 10,000+ SC Precedents</a:t>
            </a:r>
            <a:br/>
            <a:r>
              <a:t>• Statutes: BNS, BNSS, Constitution</a:t>
            </a:r>
            <a:br/>
            <a:r>
              <a:t>• ML Models: KNN MO + Random Forest</a:t>
            </a:r>
          </a:p>
        </p:txBody>
      </p:sp>
      <p:sp>
        <p:nvSpPr>
          <p:cNvPr id="8" name="Rounded Rectangle 7"/>
          <p:cNvSpPr/>
          <p:nvPr/>
        </p:nvSpPr>
        <p:spPr>
          <a:xfrm>
            <a:off x="731520" y="3931920"/>
            <a:ext cx="3383280" cy="219456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defRPr sz="1300" b="1">
                <a:solidFill>
                  <a:srgbClr val="1E3A8A"/>
                </a:solidFill>
              </a:defRPr>
            </a:pPr>
            <a:r>
              <a:t>STEP 4: AGENTIC SYNTHESIS</a:t>
            </a:r>
          </a:p>
          <a:p>
            <a:br/>
            <a:pPr>
              <a:defRPr sz="1100">
                <a:solidFill>
                  <a:srgbClr val="1E293B"/>
                </a:solidFill>
              </a:defRPr>
            </a:pPr>
            <a:r>
              <a:t>LangGraph Multi-Stage State DAG</a:t>
            </a:r>
            <a:br/>
            <a:r>
              <a:t>Google Gemini 1.5 &amp; Groq Fallback</a:t>
            </a:r>
          </a:p>
        </p:txBody>
      </p:sp>
      <p:sp>
        <p:nvSpPr>
          <p:cNvPr id="9" name="Rounded Rectangle 8"/>
          <p:cNvSpPr/>
          <p:nvPr/>
        </p:nvSpPr>
        <p:spPr>
          <a:xfrm>
            <a:off x="4389120" y="3931920"/>
            <a:ext cx="3383280" cy="219456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defRPr sz="1300" b="1">
                <a:solidFill>
                  <a:srgbClr val="D97706"/>
                </a:solidFill>
              </a:defRPr>
            </a:pPr>
            <a:r>
              <a:t>STEP 5: GROUNDING AUDIT</a:t>
            </a:r>
          </a:p>
          <a:p>
            <a:br/>
            <a:pPr>
              <a:defRPr sz="1100">
                <a:solidFill>
                  <a:srgbClr val="1E293B"/>
                </a:solidFill>
              </a:defRPr>
            </a:pPr>
            <a:r>
              <a:t>Citation Verification Node</a:t>
            </a:r>
            <a:br/>
            <a:r>
              <a:t>Empirical Grounding Confidence (Cg)</a:t>
            </a:r>
          </a:p>
        </p:txBody>
      </p:sp>
      <p:sp>
        <p:nvSpPr>
          <p:cNvPr id="10" name="Rounded Rectangle 9"/>
          <p:cNvSpPr/>
          <p:nvPr/>
        </p:nvSpPr>
        <p:spPr>
          <a:xfrm>
            <a:off x="8046720" y="3931920"/>
            <a:ext cx="3383280" cy="219456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defRPr sz="1300" b="1">
                <a:solidFill>
                  <a:srgbClr val="0F172A"/>
                </a:solidFill>
              </a:defRPr>
            </a:pPr>
            <a:r>
              <a:t>STEP 6: COURT-READY OUTPUT</a:t>
            </a:r>
          </a:p>
          <a:p>
            <a:br/>
            <a:pPr>
              <a:defRPr sz="1100">
                <a:solidFill>
                  <a:srgbClr val="1E293B"/>
                </a:solidFill>
              </a:defRPr>
            </a:pPr>
            <a:r>
              <a:t>• Supreme Court Order XXI Petition</a:t>
            </a:r>
            <a:br/>
            <a:r>
              <a:t>• Marathi District Bail Application</a:t>
            </a:r>
            <a:br/>
            <a:r>
              <a:t>• Complete Legal Dossier &amp;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Problem Statement</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371600"/>
            <a:ext cx="10728655" cy="4754880"/>
          </a:xfrm>
          <a:prstGeom prst="roundRect">
            <a:avLst/>
          </a:prstGeom>
          <a:solidFill>
            <a:srgbClr val="FFFFFF"/>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548640" rIns="548640" tIns="457200" wrap="square"/>
          <a:lstStyle/>
          <a:p>
            <a:pPr algn="ctr">
              <a:defRPr sz="1500" b="1">
                <a:solidFill>
                  <a:srgbClr val="D97706"/>
                </a:solidFill>
              </a:defRPr>
            </a:pPr>
            <a:r>
              <a:t>CORE PROBLEM DEFINITION</a:t>
            </a:r>
          </a:p>
          <a:p>
            <a:br/>
            <a:pPr>
              <a:defRPr sz="1300">
                <a:solidFill>
                  <a:srgbClr val="1E293B"/>
                </a:solidFill>
              </a:defRPr>
            </a:pPr>
            <a:r>
              <a:t>To design and develop an autonomous, hallucination-resistant, and multimodal judicial intelligence framework for the Indian criminal legal system capable of:</a:t>
            </a:r>
            <a:br/>
            <a:br/>
            <a:r>
              <a:t>1. Ingesting and extracting structured entities from noisy, scanned First Information Reports (FIRs) without external binary dependencies;</a:t>
            </a:r>
            <a:br/>
            <a:br/>
            <a:r>
              <a:t>2. Dynamically resolving cross-statutory mapping between colonial penal codes (IPC/CrPC) and newly implemented criminal statutes (Bharatiya Nyaya Sanhita 2023, Bharatiya Nagarik Suraksha Sanhita 2023);</a:t>
            </a:r>
            <a:br/>
            <a:br/>
            <a:r>
              <a:t>3. Performing sub-second semantic retrieval across 10,000+ landmark Supreme Court and High Court precedents using dense vector spaces;</a:t>
            </a:r>
            <a:br/>
            <a:br/>
            <a:r>
              <a:t>4. Correlating suspect modus operandi and flight/recidivism risk using offline machine learning models;</a:t>
            </a:r>
            <a:br/>
            <a:br/>
            <a:r>
              <a:t>5. Guaranteeing zero-hallucination court petition compilation through programmatic citation verification and bilingual support (English Supreme Court Order XXI &amp; Marathi District Court petitions).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Motivation</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37160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Judicial Backlog Crisis</a:t>
            </a:r>
          </a:p>
          <a:p>
            <a:pPr>
              <a:defRPr sz="1050">
                <a:solidFill>
                  <a:srgbClr val="1E293B"/>
                </a:solidFill>
              </a:defRPr>
            </a:pPr>
            <a:r>
              <a:t>Over 45M cases pending; undertrials spend disproportionate durations incarcerated awaiting basic bail hearings.</a:t>
            </a:r>
          </a:p>
        </p:txBody>
      </p:sp>
      <p:sp>
        <p:nvSpPr>
          <p:cNvPr id="6" name="Rounded Rectangle 5"/>
          <p:cNvSpPr/>
          <p:nvPr/>
        </p:nvSpPr>
        <p:spPr>
          <a:xfrm>
            <a:off x="731520" y="256032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Article 21 Protections</a:t>
            </a:r>
          </a:p>
          <a:p>
            <a:pPr>
              <a:defRPr sz="1050">
                <a:solidFill>
                  <a:srgbClr val="1E293B"/>
                </a:solidFill>
              </a:defRPr>
            </a:pPr>
            <a:r>
              <a:t>Statutory safeguards against unlawful custody (Section 35 BNSS, Section 436A CrPC) must be automatically surfaced.</a:t>
            </a:r>
          </a:p>
        </p:txBody>
      </p:sp>
      <p:sp>
        <p:nvSpPr>
          <p:cNvPr id="7" name="Rounded Rectangle 6"/>
          <p:cNvSpPr/>
          <p:nvPr/>
        </p:nvSpPr>
        <p:spPr>
          <a:xfrm>
            <a:off x="731520" y="374904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BNS &amp; BNSS Transition</a:t>
            </a:r>
          </a:p>
          <a:p>
            <a:pPr>
              <a:defRPr sz="1050">
                <a:solidFill>
                  <a:srgbClr val="1E293B"/>
                </a:solidFill>
              </a:defRPr>
            </a:pPr>
            <a:r>
              <a:t>Advocates, police, and judges require automated mapping to avoid citing repealed sections during active trials.</a:t>
            </a:r>
          </a:p>
        </p:txBody>
      </p:sp>
      <p:sp>
        <p:nvSpPr>
          <p:cNvPr id="8" name="Rounded Rectangle 7"/>
          <p:cNvSpPr/>
          <p:nvPr/>
        </p:nvSpPr>
        <p:spPr>
          <a:xfrm>
            <a:off x="731520" y="493776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Zero Hallucination Need</a:t>
            </a:r>
          </a:p>
          <a:p>
            <a:pPr>
              <a:defRPr sz="1050">
                <a:solidFill>
                  <a:srgbClr val="1E293B"/>
                </a:solidFill>
              </a:defRPr>
            </a:pPr>
            <a:r>
              <a:t>Generic LLMs fabricate fake precedents; court submissions require 100% verified legal citations.</a:t>
            </a:r>
          </a:p>
        </p:txBody>
      </p:sp>
      <p:sp>
        <p:nvSpPr>
          <p:cNvPr id="9" name="Rounded Rectangle 8"/>
          <p:cNvSpPr/>
          <p:nvPr/>
        </p:nvSpPr>
        <p:spPr>
          <a:xfrm>
            <a:off x="6309360" y="137160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Rapid Legal Research</a:t>
            </a:r>
          </a:p>
          <a:p>
            <a:pPr>
              <a:defRPr sz="1050">
                <a:solidFill>
                  <a:srgbClr val="1E293B"/>
                </a:solidFill>
              </a:defRPr>
            </a:pPr>
            <a:r>
              <a:t>Manual citation digestion takes days; dense vector search over 10k precedents reduces lookup to milliseconds.</a:t>
            </a:r>
          </a:p>
        </p:txBody>
      </p:sp>
      <p:sp>
        <p:nvSpPr>
          <p:cNvPr id="10" name="Rounded Rectangle 9"/>
          <p:cNvSpPr/>
          <p:nvPr/>
        </p:nvSpPr>
        <p:spPr>
          <a:xfrm>
            <a:off x="6309360" y="256032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Data-Driven Risk Profiling</a:t>
            </a:r>
          </a:p>
          <a:p>
            <a:pPr>
              <a:defRPr sz="1050">
                <a:solidFill>
                  <a:srgbClr val="1E293B"/>
                </a:solidFill>
              </a:defRPr>
            </a:pPr>
            <a:r>
              <a:t>Machine learning suspect MO matching provides objective, evidence-based flight-risk analysis.</a:t>
            </a:r>
          </a:p>
        </p:txBody>
      </p:sp>
      <p:sp>
        <p:nvSpPr>
          <p:cNvPr id="11" name="Rounded Rectangle 10"/>
          <p:cNvSpPr/>
          <p:nvPr/>
        </p:nvSpPr>
        <p:spPr>
          <a:xfrm>
            <a:off x="6309360" y="374904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Grassroots Vernacular Gap</a:t>
            </a:r>
          </a:p>
          <a:p>
            <a:pPr>
              <a:defRPr sz="1050">
                <a:solidFill>
                  <a:srgbClr val="1E293B"/>
                </a:solidFill>
              </a:defRPr>
            </a:pPr>
            <a:r>
              <a:t>Subordinate courts function in regional languages; automated Marathi drafting empowers local legal practitioners.</a:t>
            </a:r>
          </a:p>
        </p:txBody>
      </p:sp>
      <p:sp>
        <p:nvSpPr>
          <p:cNvPr id="12" name="Rounded Rectangle 11"/>
          <p:cNvSpPr/>
          <p:nvPr/>
        </p:nvSpPr>
        <p:spPr>
          <a:xfrm>
            <a:off x="6309360" y="4937760"/>
            <a:ext cx="512064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Privacy &amp; Air-Gap Security</a:t>
            </a:r>
          </a:p>
          <a:p>
            <a:pPr>
              <a:defRPr sz="1050">
                <a:solidFill>
                  <a:srgbClr val="1E293B"/>
                </a:solidFill>
              </a:defRPr>
            </a:pPr>
            <a:r>
              <a:t>Legal client privilege demands local execution capabilities without mandatory cloud data leakage.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Aim, Scope and Objectives</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280160"/>
            <a:ext cx="10728655" cy="1097280"/>
          </a:xfrm>
          <a:prstGeom prst="roundRect">
            <a:avLst/>
          </a:prstGeom>
          <a:solidFill>
            <a:srgbClr val="0F172A"/>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365760" tIns="137160" wrap="square"/>
          <a:lstStyle/>
          <a:p>
            <a:pPr algn="ctr">
              <a:defRPr sz="1200" b="1">
                <a:solidFill>
                  <a:srgbClr val="D97706"/>
                </a:solidFill>
              </a:defRPr>
            </a:pPr>
            <a:r>
              <a:t>AIM</a:t>
            </a:r>
          </a:p>
          <a:p>
            <a:pPr>
              <a:defRPr sz="1150">
                <a:solidFill>
                  <a:srgbClr val="FFFFFF"/>
                </a:solidFill>
              </a:defRPr>
            </a:pPr>
            <a:r>
              <a:t>To develop an intelligent, hallucination-resistant, and multimodal AI-based judicial decision support framework for Indian criminal law that streamlines legal research, First Information Report (FIR) analysis, criminal suspect profiling, and Supreme Court petition drafting.</a:t>
            </a:r>
          </a:p>
        </p:txBody>
      </p:sp>
      <p:sp>
        <p:nvSpPr>
          <p:cNvPr id="6" name="Rounded Rectangle 5"/>
          <p:cNvSpPr/>
          <p:nvPr/>
        </p:nvSpPr>
        <p:spPr>
          <a:xfrm>
            <a:off x="731520" y="2560320"/>
            <a:ext cx="512064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228600" wrap="square"/>
          <a:lstStyle/>
          <a:p>
            <a:pPr algn="ctr">
              <a:defRPr sz="1300" b="1">
                <a:solidFill>
                  <a:srgbClr val="1E3A8A"/>
                </a:solidFill>
              </a:defRPr>
            </a:pPr>
            <a:r>
              <a:t>OBJECTIVES</a:t>
            </a:r>
          </a:p>
          <a:p>
            <a:pPr>
              <a:defRPr sz="1000">
                <a:solidFill>
                  <a:srgbClr val="1E293B"/>
                </a:solidFill>
              </a:defRPr>
            </a:pPr>
            <a:r>
              <a:t>• Acquire &amp; Preprocess FIRs: Build an in-memory document parser extracting legal entities from noisy scans with zero Poppler dependencies.</a:t>
            </a:r>
            <a:br/>
            <a:br/>
            <a:r>
              <a:t>• Hybrid Precedent Retrieval: Index 10,000+ judgments in Qdrant with BGE embeddings for sub-second semantic search.</a:t>
            </a:r>
            <a:br/>
            <a:br/>
            <a:r>
              <a:t>• Machine Learning Profiling: Train KNN and Random Forest models to predict recidivism risk from suspect MO attributes.</a:t>
            </a:r>
            <a:br/>
            <a:br/>
            <a:r>
              <a:t>• Citation Verification: Engineer a programmatic audit node calculating Grounding Confidence Score (Cg).</a:t>
            </a:r>
            <a:br/>
            <a:br/>
            <a:r>
              <a:t>• Procedural Drafting: Automate section-by-section Supreme Court Order XXI &amp; Marathi district court petitions.</a:t>
            </a:r>
          </a:p>
        </p:txBody>
      </p:sp>
      <p:sp>
        <p:nvSpPr>
          <p:cNvPr id="7" name="Rounded Rectangle 6"/>
          <p:cNvSpPr/>
          <p:nvPr/>
        </p:nvSpPr>
        <p:spPr>
          <a:xfrm>
            <a:off x="6309360" y="2560320"/>
            <a:ext cx="512064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228600" wrap="square"/>
          <a:lstStyle/>
          <a:p>
            <a:pPr algn="ctr">
              <a:defRPr sz="1300" b="1">
                <a:solidFill>
                  <a:srgbClr val="1E3A8A"/>
                </a:solidFill>
              </a:defRPr>
            </a:pPr>
            <a:r>
              <a:t>SCOPE</a:t>
            </a:r>
          </a:p>
          <a:p>
            <a:pPr>
              <a:defRPr sz="1000">
                <a:solidFill>
                  <a:srgbClr val="1E293B"/>
                </a:solidFill>
              </a:defRPr>
            </a:pPr>
            <a:r>
              <a:t>• Jurisdiction: Indian Criminal Jurisprudence covering IPC 1860, CrPC 1973, BNS 2023, BNSS 2023, and Constitution of India.</a:t>
            </a:r>
            <a:br/>
            <a:br/>
            <a:r>
              <a:t>• Corpus Scale: 10,000+ Supreme Court and High Court criminal precedents with full-text ratios and deep-linking.</a:t>
            </a:r>
            <a:br/>
            <a:br/>
            <a:r>
              <a:t>• Drafting Capabilities: Automated Special Leave Petitions (SLPs) for bail, criminal revisions, and Marathi district bail replies.</a:t>
            </a:r>
            <a:br/>
            <a:br/>
            <a:r>
              <a:t>• Target Users: Defense advocates, public prosecutors, judicial research associates, magistrates, and investigating officers.</a:t>
            </a:r>
            <a:br/>
            <a:br/>
            <a:r>
              <a:t>• Deployment Boundaries: Local air-gapped CPU/GPU environments and hybrid cloud setups.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Literature Survey (Part 1)</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graphicFrame>
        <p:nvGraphicFramePr>
          <p:cNvPr id="5" name="Table 4"/>
          <p:cNvGraphicFramePr>
            <a:graphicFrameLocks noGrp="1"/>
          </p:cNvGraphicFramePr>
          <p:nvPr/>
        </p:nvGraphicFramePr>
        <p:xfrm>
          <a:off x="731520" y="1371600"/>
          <a:ext cx="10698480" cy="4754880"/>
        </p:xfrm>
        <a:graphic>
          <a:graphicData uri="http://schemas.openxmlformats.org/drawingml/2006/table">
            <a:tbl>
              <a:tblPr firstRow="1" bandRow="1">
                <a:tableStyleId>{5C22544A-7EE6-4342-B048-85BDC9FD1C3A}</a:tableStyleId>
              </a:tblPr>
              <a:tblGrid>
                <a:gridCol w="548640"/>
                <a:gridCol w="2560320"/>
                <a:gridCol w="1463040"/>
                <a:gridCol w="2468880"/>
                <a:gridCol w="2011680"/>
                <a:gridCol w="1645920"/>
              </a:tblGrid>
              <a:tr h="792480">
                <a:tc>
                  <a:txBody>
                    <a:bodyPr/>
                    <a:lstStyle/>
                    <a:p>
                      <a:pPr>
                        <a:defRPr sz="1000" b="1">
                          <a:solidFill>
                            <a:srgbClr val="FFFFFF"/>
                          </a:solidFill>
                        </a:defRPr>
                      </a:pPr>
                      <a:r>
                        <a:t>Sr.</a:t>
                      </a:r>
                    </a:p>
                  </a:txBody>
                  <a:tcPr>
                    <a:solidFill>
                      <a:srgbClr val="0F172A"/>
                    </a:solidFill>
                  </a:tcPr>
                </a:tc>
                <a:tc>
                  <a:txBody>
                    <a:bodyPr/>
                    <a:lstStyle/>
                    <a:p>
                      <a:pPr>
                        <a:defRPr sz="1000" b="1">
                          <a:solidFill>
                            <a:srgbClr val="FFFFFF"/>
                          </a:solidFill>
                        </a:defRPr>
                      </a:pPr>
                      <a:r>
                        <a:t>Paper &amp; Author(s)</a:t>
                      </a:r>
                    </a:p>
                  </a:txBody>
                  <a:tcPr>
                    <a:solidFill>
                      <a:srgbClr val="0F172A"/>
                    </a:solidFill>
                  </a:tcPr>
                </a:tc>
                <a:tc>
                  <a:txBody>
                    <a:bodyPr/>
                    <a:lstStyle/>
                    <a:p>
                      <a:pPr>
                        <a:defRPr sz="1000" b="1">
                          <a:solidFill>
                            <a:srgbClr val="FFFFFF"/>
                          </a:solidFill>
                        </a:defRPr>
                      </a:pPr>
                      <a:r>
                        <a:t>Publication</a:t>
                      </a:r>
                    </a:p>
                  </a:txBody>
                  <a:tcPr>
                    <a:solidFill>
                      <a:srgbClr val="0F172A"/>
                    </a:solidFill>
                  </a:tcPr>
                </a:tc>
                <a:tc>
                  <a:txBody>
                    <a:bodyPr/>
                    <a:lstStyle/>
                    <a:p>
                      <a:pPr>
                        <a:defRPr sz="1000" b="1">
                          <a:solidFill>
                            <a:srgbClr val="FFFFFF"/>
                          </a:solidFill>
                        </a:defRPr>
                      </a:pPr>
                      <a:r>
                        <a:t>Description / Contribution</a:t>
                      </a:r>
                    </a:p>
                  </a:txBody>
                  <a:tcPr>
                    <a:solidFill>
                      <a:srgbClr val="0F172A"/>
                    </a:solidFill>
                  </a:tcPr>
                </a:tc>
                <a:tc>
                  <a:txBody>
                    <a:bodyPr/>
                    <a:lstStyle/>
                    <a:p>
                      <a:pPr>
                        <a:defRPr sz="1000" b="1">
                          <a:solidFill>
                            <a:srgbClr val="FFFFFF"/>
                          </a:solidFill>
                        </a:defRPr>
                      </a:pPr>
                      <a:r>
                        <a:t>Challenges / Gaps</a:t>
                      </a:r>
                    </a:p>
                  </a:txBody>
                  <a:tcPr>
                    <a:solidFill>
                      <a:srgbClr val="0F172A"/>
                    </a:solidFill>
                  </a:tcPr>
                </a:tc>
                <a:tc>
                  <a:txBody>
                    <a:bodyPr/>
                    <a:lstStyle/>
                    <a:p>
                      <a:pPr>
                        <a:defRPr sz="1000" b="1">
                          <a:solidFill>
                            <a:srgbClr val="FFFFFF"/>
                          </a:solidFill>
                        </a:defRPr>
                      </a:pPr>
                      <a:r>
                        <a:t>Used in NyayaAI</a:t>
                      </a:r>
                    </a:p>
                  </a:txBody>
                  <a:tcPr>
                    <a:solidFill>
                      <a:srgbClr val="0F172A"/>
                    </a:solidFill>
                  </a:tcPr>
                </a:tc>
              </a:tr>
              <a:tr h="792480">
                <a:tc>
                  <a:txBody>
                    <a:bodyPr/>
                    <a:lstStyle/>
                    <a:p>
                      <a:pPr>
                        <a:defRPr sz="900">
                          <a:solidFill>
                            <a:srgbClr val="1E293B"/>
                          </a:solidFill>
                        </a:defRPr>
                      </a:pPr>
                      <a:r>
                        <a:t>1</a:t>
                      </a:r>
                    </a:p>
                  </a:txBody>
                  <a:tcPr>
                    <a:solidFill>
                      <a:srgbClr val="FFFFFF"/>
                    </a:solidFill>
                  </a:tcPr>
                </a:tc>
                <a:tc>
                  <a:txBody>
                    <a:bodyPr/>
                    <a:lstStyle/>
                    <a:p>
                      <a:pPr>
                        <a:defRPr sz="900">
                          <a:solidFill>
                            <a:srgbClr val="1E293B"/>
                          </a:solidFill>
                        </a:defRPr>
                      </a:pPr>
                      <a:r>
                        <a:t>LEGAL-BERT: The Muppets Straight Out of Law School</a:t>
                      </a:r>
                      <a:br/>
                      <a:r>
                        <a:t>I. Chalkidis et al.</a:t>
                      </a:r>
                    </a:p>
                  </a:txBody>
                  <a:tcPr>
                    <a:solidFill>
                      <a:srgbClr val="FFFFFF"/>
                    </a:solidFill>
                  </a:tcPr>
                </a:tc>
                <a:tc>
                  <a:txBody>
                    <a:bodyPr/>
                    <a:lstStyle/>
                    <a:p>
                      <a:pPr>
                        <a:defRPr sz="900">
                          <a:solidFill>
                            <a:srgbClr val="1E293B"/>
                          </a:solidFill>
                        </a:defRPr>
                      </a:pPr>
                      <a:r>
                        <a:t>EMNLP, 2020</a:t>
                      </a:r>
                    </a:p>
                  </a:txBody>
                  <a:tcPr>
                    <a:solidFill>
                      <a:srgbClr val="FFFFFF"/>
                    </a:solidFill>
                  </a:tcPr>
                </a:tc>
                <a:tc>
                  <a:txBody>
                    <a:bodyPr/>
                    <a:lstStyle/>
                    <a:p>
                      <a:pPr>
                        <a:defRPr sz="900">
                          <a:solidFill>
                            <a:srgbClr val="1E293B"/>
                          </a:solidFill>
                        </a:defRPr>
                      </a:pPr>
                      <a:r>
                        <a:t>Domain-specific BERT pretraining outperforms generic language models on legal NLP.</a:t>
                      </a:r>
                    </a:p>
                  </a:txBody>
                  <a:tcPr>
                    <a:solidFill>
                      <a:srgbClr val="FFFFFF"/>
                    </a:solidFill>
                  </a:tcPr>
                </a:tc>
                <a:tc>
                  <a:txBody>
                    <a:bodyPr/>
                    <a:lstStyle/>
                    <a:p>
                      <a:pPr>
                        <a:defRPr sz="900">
                          <a:solidFill>
                            <a:srgbClr val="1E293B"/>
                          </a:solidFill>
                        </a:defRPr>
                      </a:pPr>
                      <a:r>
                        <a:t>Trained solely on US/EU legal corpora; lacks Indian criminal law alignment.</a:t>
                      </a:r>
                    </a:p>
                  </a:txBody>
                  <a:tcPr>
                    <a:solidFill>
                      <a:srgbClr val="FFFFFF"/>
                    </a:solidFill>
                  </a:tcPr>
                </a:tc>
                <a:tc>
                  <a:txBody>
                    <a:bodyPr/>
                    <a:lstStyle/>
                    <a:p>
                      <a:pPr>
                        <a:defRPr sz="900">
                          <a:solidFill>
                            <a:srgbClr val="1E293B"/>
                          </a:solidFill>
                        </a:defRPr>
                      </a:pPr>
                      <a:r>
                        <a:t>Use domain-adapted legal embeddings.</a:t>
                      </a:r>
                    </a:p>
                  </a:txBody>
                  <a:tcPr>
                    <a:solidFill>
                      <a:srgbClr val="FFFFFF"/>
                    </a:solidFill>
                  </a:tcPr>
                </a:tc>
              </a:tr>
              <a:tr h="792480">
                <a:tc>
                  <a:txBody>
                    <a:bodyPr/>
                    <a:lstStyle/>
                    <a:p>
                      <a:pPr>
                        <a:defRPr sz="900">
                          <a:solidFill>
                            <a:srgbClr val="1E293B"/>
                          </a:solidFill>
                        </a:defRPr>
                      </a:pPr>
                      <a:r>
                        <a:t>2</a:t>
                      </a:r>
                    </a:p>
                  </a:txBody>
                  <a:tcPr>
                    <a:solidFill>
                      <a:srgbClr val="F1F5F9"/>
                    </a:solidFill>
                  </a:tcPr>
                </a:tc>
                <a:tc>
                  <a:txBody>
                    <a:bodyPr/>
                    <a:lstStyle/>
                    <a:p>
                      <a:pPr>
                        <a:defRPr sz="900">
                          <a:solidFill>
                            <a:srgbClr val="1E293B"/>
                          </a:solidFill>
                        </a:defRPr>
                      </a:pPr>
                      <a:r>
                        <a:t>Pre-trained Language Models for Indian Legal Domain (InLegalBERT)</a:t>
                      </a:r>
                      <a:br/>
                      <a:r>
                        <a:t>S. Paul, P. Goyal, S. Ghosh</a:t>
                      </a:r>
                    </a:p>
                  </a:txBody>
                  <a:tcPr>
                    <a:solidFill>
                      <a:srgbClr val="F1F5F9"/>
                    </a:solidFill>
                  </a:tcPr>
                </a:tc>
                <a:tc>
                  <a:txBody>
                    <a:bodyPr/>
                    <a:lstStyle/>
                    <a:p>
                      <a:pPr>
                        <a:defRPr sz="900">
                          <a:solidFill>
                            <a:srgbClr val="1E293B"/>
                          </a:solidFill>
                        </a:defRPr>
                      </a:pPr>
                      <a:r>
                        <a:t>AI &amp; Law, 2024</a:t>
                      </a:r>
                    </a:p>
                  </a:txBody>
                  <a:tcPr>
                    <a:solidFill>
                      <a:srgbClr val="F1F5F9"/>
                    </a:solidFill>
                  </a:tcPr>
                </a:tc>
                <a:tc>
                  <a:txBody>
                    <a:bodyPr/>
                    <a:lstStyle/>
                    <a:p>
                      <a:pPr>
                        <a:defRPr sz="900">
                          <a:solidFill>
                            <a:srgbClr val="1E293B"/>
                          </a:solidFill>
                        </a:defRPr>
                      </a:pPr>
                      <a:r>
                        <a:t>Specialized transformers trained on Indian Supreme Court case precedents.</a:t>
                      </a:r>
                    </a:p>
                  </a:txBody>
                  <a:tcPr>
                    <a:solidFill>
                      <a:srgbClr val="F1F5F9"/>
                    </a:solidFill>
                  </a:tcPr>
                </a:tc>
                <a:tc>
                  <a:txBody>
                    <a:bodyPr/>
                    <a:lstStyle/>
                    <a:p>
                      <a:pPr>
                        <a:defRPr sz="900">
                          <a:solidFill>
                            <a:srgbClr val="1E293B"/>
                          </a:solidFill>
                        </a:defRPr>
                      </a:pPr>
                      <a:r>
                        <a:t>Only provides masked language modeling; no agentic retrieval or drafting.</a:t>
                      </a:r>
                    </a:p>
                  </a:txBody>
                  <a:tcPr>
                    <a:solidFill>
                      <a:srgbClr val="F1F5F9"/>
                    </a:solidFill>
                  </a:tcPr>
                </a:tc>
                <a:tc>
                  <a:txBody>
                    <a:bodyPr/>
                    <a:lstStyle/>
                    <a:p>
                      <a:pPr>
                        <a:defRPr sz="900">
                          <a:solidFill>
                            <a:srgbClr val="1E293B"/>
                          </a:solidFill>
                        </a:defRPr>
                      </a:pPr>
                      <a:r>
                        <a:t>Use Indian judicial corpus representations.</a:t>
                      </a:r>
                    </a:p>
                  </a:txBody>
                  <a:tcPr>
                    <a:solidFill>
                      <a:srgbClr val="F1F5F9"/>
                    </a:solidFill>
                  </a:tcPr>
                </a:tc>
              </a:tr>
              <a:tr h="792480">
                <a:tc>
                  <a:txBody>
                    <a:bodyPr/>
                    <a:lstStyle/>
                    <a:p>
                      <a:pPr>
                        <a:defRPr sz="900">
                          <a:solidFill>
                            <a:srgbClr val="1E293B"/>
                          </a:solidFill>
                        </a:defRPr>
                      </a:pPr>
                      <a:r>
                        <a:t>3</a:t>
                      </a:r>
                    </a:p>
                  </a:txBody>
                  <a:tcPr>
                    <a:solidFill>
                      <a:srgbClr val="FFFFFF"/>
                    </a:solidFill>
                  </a:tcPr>
                </a:tc>
                <a:tc>
                  <a:txBody>
                    <a:bodyPr/>
                    <a:lstStyle/>
                    <a:p>
                      <a:pPr>
                        <a:defRPr sz="900">
                          <a:solidFill>
                            <a:srgbClr val="1E293B"/>
                          </a:solidFill>
                        </a:defRPr>
                      </a:pPr>
                      <a:r>
                        <a:t>Retrieval-Augmented Generation for Large Language Models: A Survey</a:t>
                      </a:r>
                      <a:br/>
                      <a:r>
                        <a:t>Y. Gao et al.</a:t>
                      </a:r>
                    </a:p>
                  </a:txBody>
                  <a:tcPr>
                    <a:solidFill>
                      <a:srgbClr val="FFFFFF"/>
                    </a:solidFill>
                  </a:tcPr>
                </a:tc>
                <a:tc>
                  <a:txBody>
                    <a:bodyPr/>
                    <a:lstStyle/>
                    <a:p>
                      <a:pPr>
                        <a:defRPr sz="900">
                          <a:solidFill>
                            <a:srgbClr val="1E293B"/>
                          </a:solidFill>
                        </a:defRPr>
                      </a:pPr>
                      <a:r>
                        <a:t>arXiv, 2023</a:t>
                      </a:r>
                    </a:p>
                  </a:txBody>
                  <a:tcPr>
                    <a:solidFill>
                      <a:srgbClr val="FFFFFF"/>
                    </a:solidFill>
                  </a:tcPr>
                </a:tc>
                <a:tc>
                  <a:txBody>
                    <a:bodyPr/>
                    <a:lstStyle/>
                    <a:p>
                      <a:pPr>
                        <a:defRPr sz="900">
                          <a:solidFill>
                            <a:srgbClr val="1E293B"/>
                          </a:solidFill>
                        </a:defRPr>
                      </a:pPr>
                      <a:r>
                        <a:t>Surveyed hybrid dense-sparse RAG architectures for factual precision.</a:t>
                      </a:r>
                    </a:p>
                  </a:txBody>
                  <a:tcPr>
                    <a:solidFill>
                      <a:srgbClr val="FFFFFF"/>
                    </a:solidFill>
                  </a:tcPr>
                </a:tc>
                <a:tc>
                  <a:txBody>
                    <a:bodyPr/>
                    <a:lstStyle/>
                    <a:p>
                      <a:pPr>
                        <a:defRPr sz="900">
                          <a:solidFill>
                            <a:srgbClr val="1E293B"/>
                          </a:solidFill>
                        </a:defRPr>
                      </a:pPr>
                      <a:r>
                        <a:t>Generic QA framework; lacks deterministic legal citation audit loops.</a:t>
                      </a:r>
                    </a:p>
                  </a:txBody>
                  <a:tcPr>
                    <a:solidFill>
                      <a:srgbClr val="FFFFFF"/>
                    </a:solidFill>
                  </a:tcPr>
                </a:tc>
                <a:tc>
                  <a:txBody>
                    <a:bodyPr/>
                    <a:lstStyle/>
                    <a:p>
                      <a:pPr>
                        <a:defRPr sz="900">
                          <a:solidFill>
                            <a:srgbClr val="1E293B"/>
                          </a:solidFill>
                        </a:defRPr>
                      </a:pPr>
                      <a:r>
                        <a:t>Use hybrid RAG with Qdrant vector indexing.</a:t>
                      </a:r>
                    </a:p>
                  </a:txBody>
                  <a:tcPr>
                    <a:solidFill>
                      <a:srgbClr val="FFFFFF"/>
                    </a:solidFill>
                  </a:tcPr>
                </a:tc>
              </a:tr>
              <a:tr h="792480">
                <a:tc>
                  <a:txBody>
                    <a:bodyPr/>
                    <a:lstStyle/>
                    <a:p>
                      <a:pPr>
                        <a:defRPr sz="900">
                          <a:solidFill>
                            <a:srgbClr val="1E293B"/>
                          </a:solidFill>
                        </a:defRPr>
                      </a:pPr>
                      <a:r>
                        <a:t>4</a:t>
                      </a:r>
                    </a:p>
                  </a:txBody>
                  <a:tcPr>
                    <a:solidFill>
                      <a:srgbClr val="F1F5F9"/>
                    </a:solidFill>
                  </a:tcPr>
                </a:tc>
                <a:tc>
                  <a:txBody>
                    <a:bodyPr/>
                    <a:lstStyle/>
                    <a:p>
                      <a:pPr>
                        <a:defRPr sz="900">
                          <a:solidFill>
                            <a:srgbClr val="1E293B"/>
                          </a:solidFill>
                        </a:defRPr>
                      </a:pPr>
                      <a:r>
                        <a:t>GPT-4 Passes the Bar Exam</a:t>
                      </a:r>
                      <a:br/>
                      <a:r>
                        <a:t>D. M. Katz, M. J. Bommarito, et al.</a:t>
                      </a:r>
                    </a:p>
                  </a:txBody>
                  <a:tcPr>
                    <a:solidFill>
                      <a:srgbClr val="F1F5F9"/>
                    </a:solidFill>
                  </a:tcPr>
                </a:tc>
                <a:tc>
                  <a:txBody>
                    <a:bodyPr/>
                    <a:lstStyle/>
                    <a:p>
                      <a:pPr>
                        <a:defRPr sz="900">
                          <a:solidFill>
                            <a:srgbClr val="1E293B"/>
                          </a:solidFill>
                        </a:defRPr>
                      </a:pPr>
                      <a:r>
                        <a:t>Phil. Trans. R. Soc. A, 2024</a:t>
                      </a:r>
                    </a:p>
                  </a:txBody>
                  <a:tcPr>
                    <a:solidFill>
                      <a:srgbClr val="F1F5F9"/>
                    </a:solidFill>
                  </a:tcPr>
                </a:tc>
                <a:tc>
                  <a:txBody>
                    <a:bodyPr/>
                    <a:lstStyle/>
                    <a:p>
                      <a:pPr>
                        <a:defRPr sz="900">
                          <a:solidFill>
                            <a:srgbClr val="1E293B"/>
                          </a:solidFill>
                        </a:defRPr>
                      </a:pPr>
                      <a:r>
                        <a:t>Benchmarked LLM complex legal reasoning and demonstrated citation hallucination risks.</a:t>
                      </a:r>
                    </a:p>
                  </a:txBody>
                  <a:tcPr>
                    <a:solidFill>
                      <a:srgbClr val="F1F5F9"/>
                    </a:solidFill>
                  </a:tcPr>
                </a:tc>
                <a:tc>
                  <a:txBody>
                    <a:bodyPr/>
                    <a:lstStyle/>
                    <a:p>
                      <a:pPr>
                        <a:defRPr sz="900">
                          <a:solidFill>
                            <a:srgbClr val="1E293B"/>
                          </a:solidFill>
                        </a:defRPr>
                      </a:pPr>
                      <a:r>
                        <a:t>Emphasizes generative models cannot be trusted without grounding databases.</a:t>
                      </a:r>
                    </a:p>
                  </a:txBody>
                  <a:tcPr>
                    <a:solidFill>
                      <a:srgbClr val="F1F5F9"/>
                    </a:solidFill>
                  </a:tcPr>
                </a:tc>
                <a:tc>
                  <a:txBody>
                    <a:bodyPr/>
                    <a:lstStyle/>
                    <a:p>
                      <a:pPr>
                        <a:defRPr sz="900">
                          <a:solidFill>
                            <a:srgbClr val="1E293B"/>
                          </a:solidFill>
                        </a:defRPr>
                      </a:pPr>
                      <a:r>
                        <a:t>Design programmatic citation verification node.</a:t>
                      </a:r>
                    </a:p>
                  </a:txBody>
                  <a:tcPr>
                    <a:solidFill>
                      <a:srgbClr val="F1F5F9"/>
                    </a:solidFill>
                  </a:tcPr>
                </a:tc>
              </a:tr>
              <a:tr h="792480">
                <a:tc>
                  <a:txBody>
                    <a:bodyPr/>
                    <a:lstStyle/>
                    <a:p>
                      <a:pPr>
                        <a:defRPr sz="900">
                          <a:solidFill>
                            <a:srgbClr val="1E293B"/>
                          </a:solidFill>
                        </a:defRPr>
                      </a:pPr>
                      <a:r>
                        <a:t>5</a:t>
                      </a:r>
                    </a:p>
                  </a:txBody>
                  <a:tcPr>
                    <a:solidFill>
                      <a:srgbClr val="FFFFFF"/>
                    </a:solidFill>
                  </a:tcPr>
                </a:tc>
                <a:tc>
                  <a:txBody>
                    <a:bodyPr/>
                    <a:lstStyle/>
                    <a:p>
                      <a:pPr>
                        <a:defRPr sz="900">
                          <a:solidFill>
                            <a:srgbClr val="1E293B"/>
                          </a:solidFill>
                        </a:defRPr>
                      </a:pPr>
                      <a:r>
                        <a:t>Retrieval-Augmented Generation for Knowledge-Intensive NLP</a:t>
                      </a:r>
                      <a:br/>
                      <a:r>
                        <a:t>P. Lewis et al.</a:t>
                      </a:r>
                    </a:p>
                  </a:txBody>
                  <a:tcPr>
                    <a:solidFill>
                      <a:srgbClr val="FFFFFF"/>
                    </a:solidFill>
                  </a:tcPr>
                </a:tc>
                <a:tc>
                  <a:txBody>
                    <a:bodyPr/>
                    <a:lstStyle/>
                    <a:p>
                      <a:pPr>
                        <a:defRPr sz="900">
                          <a:solidFill>
                            <a:srgbClr val="1E293B"/>
                          </a:solidFill>
                        </a:defRPr>
                      </a:pPr>
                      <a:r>
                        <a:t>NeurIPS, 2020</a:t>
                      </a:r>
                    </a:p>
                  </a:txBody>
                  <a:tcPr>
                    <a:solidFill>
                      <a:srgbClr val="FFFFFF"/>
                    </a:solidFill>
                  </a:tcPr>
                </a:tc>
                <a:tc>
                  <a:txBody>
                    <a:bodyPr/>
                    <a:lstStyle/>
                    <a:p>
                      <a:pPr>
                        <a:defRPr sz="900">
                          <a:solidFill>
                            <a:srgbClr val="1E293B"/>
                          </a:solidFill>
                        </a:defRPr>
                      </a:pPr>
                      <a:r>
                        <a:t>Formalized parametric vs. non-parametric retrieval memory for neural models.</a:t>
                      </a:r>
                    </a:p>
                  </a:txBody>
                  <a:tcPr>
                    <a:solidFill>
                      <a:srgbClr val="FFFFFF"/>
                    </a:solidFill>
                  </a:tcPr>
                </a:tc>
                <a:tc>
                  <a:txBody>
                    <a:bodyPr/>
                    <a:lstStyle/>
                    <a:p>
                      <a:pPr>
                        <a:defRPr sz="900">
                          <a:solidFill>
                            <a:srgbClr val="1E293B"/>
                          </a:solidFill>
                        </a:defRPr>
                      </a:pPr>
                      <a:r>
                        <a:t>Single-pass retrieval without multi-stage state graph orchestration.</a:t>
                      </a:r>
                    </a:p>
                  </a:txBody>
                  <a:tcPr>
                    <a:solidFill>
                      <a:srgbClr val="FFFFFF"/>
                    </a:solidFill>
                  </a:tcPr>
                </a:tc>
                <a:tc>
                  <a:txBody>
                    <a:bodyPr/>
                    <a:lstStyle/>
                    <a:p>
                      <a:pPr>
                        <a:defRPr sz="900">
                          <a:solidFill>
                            <a:srgbClr val="1E293B"/>
                          </a:solidFill>
                        </a:defRPr>
                      </a:pPr>
                      <a:r>
                        <a:t>Incorporate LangGraph multi-step state machine.</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Literature Survey (Part 2)</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graphicFrame>
        <p:nvGraphicFramePr>
          <p:cNvPr id="5" name="Table 4"/>
          <p:cNvGraphicFramePr>
            <a:graphicFrameLocks noGrp="1"/>
          </p:cNvGraphicFramePr>
          <p:nvPr/>
        </p:nvGraphicFramePr>
        <p:xfrm>
          <a:off x="731520" y="1371600"/>
          <a:ext cx="10698480" cy="4754880"/>
        </p:xfrm>
        <a:graphic>
          <a:graphicData uri="http://schemas.openxmlformats.org/drawingml/2006/table">
            <a:tbl>
              <a:tblPr firstRow="1" bandRow="1">
                <a:tableStyleId>{5C22544A-7EE6-4342-B048-85BDC9FD1C3A}</a:tableStyleId>
              </a:tblPr>
              <a:tblGrid>
                <a:gridCol w="548640"/>
                <a:gridCol w="2560320"/>
                <a:gridCol w="1463040"/>
                <a:gridCol w="2468880"/>
                <a:gridCol w="2011680"/>
                <a:gridCol w="1645920"/>
              </a:tblGrid>
              <a:tr h="792480">
                <a:tc>
                  <a:txBody>
                    <a:bodyPr/>
                    <a:lstStyle/>
                    <a:p>
                      <a:pPr>
                        <a:defRPr sz="1000" b="1">
                          <a:solidFill>
                            <a:srgbClr val="FFFFFF"/>
                          </a:solidFill>
                        </a:defRPr>
                      </a:pPr>
                      <a:r>
                        <a:t>Sr.</a:t>
                      </a:r>
                    </a:p>
                  </a:txBody>
                  <a:tcPr>
                    <a:solidFill>
                      <a:srgbClr val="0F172A"/>
                    </a:solidFill>
                  </a:tcPr>
                </a:tc>
                <a:tc>
                  <a:txBody>
                    <a:bodyPr/>
                    <a:lstStyle/>
                    <a:p>
                      <a:pPr>
                        <a:defRPr sz="1000" b="1">
                          <a:solidFill>
                            <a:srgbClr val="FFFFFF"/>
                          </a:solidFill>
                        </a:defRPr>
                      </a:pPr>
                      <a:r>
                        <a:t>Paper &amp; Author(s)</a:t>
                      </a:r>
                    </a:p>
                  </a:txBody>
                  <a:tcPr>
                    <a:solidFill>
                      <a:srgbClr val="0F172A"/>
                    </a:solidFill>
                  </a:tcPr>
                </a:tc>
                <a:tc>
                  <a:txBody>
                    <a:bodyPr/>
                    <a:lstStyle/>
                    <a:p>
                      <a:pPr>
                        <a:defRPr sz="1000" b="1">
                          <a:solidFill>
                            <a:srgbClr val="FFFFFF"/>
                          </a:solidFill>
                        </a:defRPr>
                      </a:pPr>
                      <a:r>
                        <a:t>Publication</a:t>
                      </a:r>
                    </a:p>
                  </a:txBody>
                  <a:tcPr>
                    <a:solidFill>
                      <a:srgbClr val="0F172A"/>
                    </a:solidFill>
                  </a:tcPr>
                </a:tc>
                <a:tc>
                  <a:txBody>
                    <a:bodyPr/>
                    <a:lstStyle/>
                    <a:p>
                      <a:pPr>
                        <a:defRPr sz="1000" b="1">
                          <a:solidFill>
                            <a:srgbClr val="FFFFFF"/>
                          </a:solidFill>
                        </a:defRPr>
                      </a:pPr>
                      <a:r>
                        <a:t>Description / Contribution</a:t>
                      </a:r>
                    </a:p>
                  </a:txBody>
                  <a:tcPr>
                    <a:solidFill>
                      <a:srgbClr val="0F172A"/>
                    </a:solidFill>
                  </a:tcPr>
                </a:tc>
                <a:tc>
                  <a:txBody>
                    <a:bodyPr/>
                    <a:lstStyle/>
                    <a:p>
                      <a:pPr>
                        <a:defRPr sz="1000" b="1">
                          <a:solidFill>
                            <a:srgbClr val="FFFFFF"/>
                          </a:solidFill>
                        </a:defRPr>
                      </a:pPr>
                      <a:r>
                        <a:t>Challenges / Gaps</a:t>
                      </a:r>
                    </a:p>
                  </a:txBody>
                  <a:tcPr>
                    <a:solidFill>
                      <a:srgbClr val="0F172A"/>
                    </a:solidFill>
                  </a:tcPr>
                </a:tc>
                <a:tc>
                  <a:txBody>
                    <a:bodyPr/>
                    <a:lstStyle/>
                    <a:p>
                      <a:pPr>
                        <a:defRPr sz="1000" b="1">
                          <a:solidFill>
                            <a:srgbClr val="FFFFFF"/>
                          </a:solidFill>
                        </a:defRPr>
                      </a:pPr>
                      <a:r>
                        <a:t>Used in NyayaAI</a:t>
                      </a:r>
                    </a:p>
                  </a:txBody>
                  <a:tcPr>
                    <a:solidFill>
                      <a:srgbClr val="0F172A"/>
                    </a:solidFill>
                  </a:tcPr>
                </a:tc>
              </a:tr>
              <a:tr h="792480">
                <a:tc>
                  <a:txBody>
                    <a:bodyPr/>
                    <a:lstStyle/>
                    <a:p>
                      <a:pPr>
                        <a:defRPr sz="900">
                          <a:solidFill>
                            <a:srgbClr val="1E293B"/>
                          </a:solidFill>
                        </a:defRPr>
                      </a:pPr>
                      <a:r>
                        <a:t>6</a:t>
                      </a:r>
                    </a:p>
                  </a:txBody>
                  <a:tcPr>
                    <a:solidFill>
                      <a:srgbClr val="FFFFFF"/>
                    </a:solidFill>
                  </a:tcPr>
                </a:tc>
                <a:tc>
                  <a:txBody>
                    <a:bodyPr/>
                    <a:lstStyle/>
                    <a:p>
                      <a:pPr>
                        <a:defRPr sz="900">
                          <a:solidFill>
                            <a:srgbClr val="1E293B"/>
                          </a:solidFill>
                        </a:defRPr>
                      </a:pPr>
                      <a:r>
                        <a:t>Comparative Analysis of BNS and IPC: Transitional Guide</a:t>
                      </a:r>
                      <a:br/>
                      <a:r>
                        <a:t>R. Khatri, A. Verma, N. Sharma</a:t>
                      </a:r>
                    </a:p>
                  </a:txBody>
                  <a:tcPr>
                    <a:solidFill>
                      <a:srgbClr val="FFFFFF"/>
                    </a:solidFill>
                  </a:tcPr>
                </a:tc>
                <a:tc>
                  <a:txBody>
                    <a:bodyPr/>
                    <a:lstStyle/>
                    <a:p>
                      <a:pPr>
                        <a:defRPr sz="900">
                          <a:solidFill>
                            <a:srgbClr val="1E293B"/>
                          </a:solidFill>
                        </a:defRPr>
                      </a:pPr>
                      <a:r>
                        <a:t>J. Ind. Judic. Stud., 2024</a:t>
                      </a:r>
                    </a:p>
                  </a:txBody>
                  <a:tcPr>
                    <a:solidFill>
                      <a:srgbClr val="FFFFFF"/>
                    </a:solidFill>
                  </a:tcPr>
                </a:tc>
                <a:tc>
                  <a:txBody>
                    <a:bodyPr/>
                    <a:lstStyle/>
                    <a:p>
                      <a:pPr>
                        <a:defRPr sz="900">
                          <a:solidFill>
                            <a:srgbClr val="1E293B"/>
                          </a:solidFill>
                        </a:defRPr>
                      </a:pPr>
                      <a:r>
                        <a:t>Algorithmic correlation between Indian Penal Code (IPC) and Bharatiya Nyaya Sanhita.</a:t>
                      </a:r>
                    </a:p>
                  </a:txBody>
                  <a:tcPr>
                    <a:solidFill>
                      <a:srgbClr val="FFFFFF"/>
                    </a:solidFill>
                  </a:tcPr>
                </a:tc>
                <a:tc>
                  <a:txBody>
                    <a:bodyPr/>
                    <a:lstStyle/>
                    <a:p>
                      <a:pPr>
                        <a:defRPr sz="900">
                          <a:solidFill>
                            <a:srgbClr val="1E293B"/>
                          </a:solidFill>
                        </a:defRPr>
                      </a:pPr>
                      <a:r>
                        <a:t>Static lookup table; lacks dynamic extraction from unstructured FIR texts.</a:t>
                      </a:r>
                    </a:p>
                  </a:txBody>
                  <a:tcPr>
                    <a:solidFill>
                      <a:srgbClr val="FFFFFF"/>
                    </a:solidFill>
                  </a:tcPr>
                </a:tc>
                <a:tc>
                  <a:txBody>
                    <a:bodyPr/>
                    <a:lstStyle/>
                    <a:p>
                      <a:pPr>
                        <a:defRPr sz="900">
                          <a:solidFill>
                            <a:srgbClr val="1E293B"/>
                          </a:solidFill>
                        </a:defRPr>
                      </a:pPr>
                      <a:r>
                        <a:t>Implement BNS/BNSS cross-statutory mapper.</a:t>
                      </a:r>
                    </a:p>
                  </a:txBody>
                  <a:tcPr>
                    <a:solidFill>
                      <a:srgbClr val="FFFFFF"/>
                    </a:solidFill>
                  </a:tcPr>
                </a:tc>
              </a:tr>
              <a:tr h="792480">
                <a:tc>
                  <a:txBody>
                    <a:bodyPr/>
                    <a:lstStyle/>
                    <a:p>
                      <a:pPr>
                        <a:defRPr sz="900">
                          <a:solidFill>
                            <a:srgbClr val="1E293B"/>
                          </a:solidFill>
                        </a:defRPr>
                      </a:pPr>
                      <a:r>
                        <a:t>7</a:t>
                      </a:r>
                    </a:p>
                  </a:txBody>
                  <a:tcPr>
                    <a:solidFill>
                      <a:srgbClr val="F1F5F9"/>
                    </a:solidFill>
                  </a:tcPr>
                </a:tc>
                <a:tc>
                  <a:txBody>
                    <a:bodyPr/>
                    <a:lstStyle/>
                    <a:p>
                      <a:pPr>
                        <a:defRPr sz="900">
                          <a:solidFill>
                            <a:srgbClr val="1E293B"/>
                          </a:solidFill>
                        </a:defRPr>
                      </a:pPr>
                      <a:r>
                        <a:t>When Do LLMs Help with Legal Reasoning?</a:t>
                      </a:r>
                      <a:br/>
                      <a:r>
                        <a:t>L. Zheng, N. Guha, P. Henderson, D. Ho</a:t>
                      </a:r>
                    </a:p>
                  </a:txBody>
                  <a:tcPr>
                    <a:solidFill>
                      <a:srgbClr val="F1F5F9"/>
                    </a:solidFill>
                  </a:tcPr>
                </a:tc>
                <a:tc>
                  <a:txBody>
                    <a:bodyPr/>
                    <a:lstStyle/>
                    <a:p>
                      <a:pPr>
                        <a:defRPr sz="900">
                          <a:solidFill>
                            <a:srgbClr val="1E293B"/>
                          </a:solidFill>
                        </a:defRPr>
                      </a:pPr>
                      <a:r>
                        <a:t>J. Empir. Leg. Stud., 2024</a:t>
                      </a:r>
                    </a:p>
                  </a:txBody>
                  <a:tcPr>
                    <a:solidFill>
                      <a:srgbClr val="F1F5F9"/>
                    </a:solidFill>
                  </a:tcPr>
                </a:tc>
                <a:tc>
                  <a:txBody>
                    <a:bodyPr/>
                    <a:lstStyle/>
                    <a:p>
                      <a:pPr>
                        <a:defRPr sz="900">
                          <a:solidFill>
                            <a:srgbClr val="1E293B"/>
                          </a:solidFill>
                        </a:defRPr>
                      </a:pPr>
                      <a:r>
                        <a:t>Benchmarked multi-agent legal workflows for drafting and legal research.</a:t>
                      </a:r>
                    </a:p>
                  </a:txBody>
                  <a:tcPr>
                    <a:solidFill>
                      <a:srgbClr val="F1F5F9"/>
                    </a:solidFill>
                  </a:tcPr>
                </a:tc>
                <a:tc>
                  <a:txBody>
                    <a:bodyPr/>
                    <a:lstStyle/>
                    <a:p>
                      <a:pPr>
                        <a:defRPr sz="900">
                          <a:solidFill>
                            <a:srgbClr val="1E293B"/>
                          </a:solidFill>
                        </a:defRPr>
                      </a:pPr>
                      <a:r>
                        <a:t>Heavy compute cost; lacks tabular ML offender modus operandi profiling.</a:t>
                      </a:r>
                    </a:p>
                  </a:txBody>
                  <a:tcPr>
                    <a:solidFill>
                      <a:srgbClr val="F1F5F9"/>
                    </a:solidFill>
                  </a:tcPr>
                </a:tc>
                <a:tc>
                  <a:txBody>
                    <a:bodyPr/>
                    <a:lstStyle/>
                    <a:p>
                      <a:pPr>
                        <a:defRPr sz="900">
                          <a:solidFill>
                            <a:srgbClr val="1E293B"/>
                          </a:solidFill>
                        </a:defRPr>
                      </a:pPr>
                      <a:r>
                        <a:t>Incorporate multi-stage agentic state design.</a:t>
                      </a:r>
                    </a:p>
                  </a:txBody>
                  <a:tcPr>
                    <a:solidFill>
                      <a:srgbClr val="F1F5F9"/>
                    </a:solidFill>
                  </a:tcPr>
                </a:tc>
              </a:tr>
              <a:tr h="792480">
                <a:tc>
                  <a:txBody>
                    <a:bodyPr/>
                    <a:lstStyle/>
                    <a:p>
                      <a:pPr>
                        <a:defRPr sz="900">
                          <a:solidFill>
                            <a:srgbClr val="1E293B"/>
                          </a:solidFill>
                        </a:defRPr>
                      </a:pPr>
                      <a:r>
                        <a:t>8</a:t>
                      </a:r>
                    </a:p>
                  </a:txBody>
                  <a:tcPr>
                    <a:solidFill>
                      <a:srgbClr val="FFFFFF"/>
                    </a:solidFill>
                  </a:tcPr>
                </a:tc>
                <a:tc>
                  <a:txBody>
                    <a:bodyPr/>
                    <a:lstStyle/>
                    <a:p>
                      <a:pPr>
                        <a:defRPr sz="900">
                          <a:solidFill>
                            <a:srgbClr val="1E293B"/>
                          </a:solidFill>
                        </a:defRPr>
                      </a:pPr>
                      <a:r>
                        <a:t>Indian Legal Statute Identification via Legal NLP</a:t>
                      </a:r>
                      <a:br/>
                      <a:r>
                        <a:t>V. Malik, P. Goyal, et al.</a:t>
                      </a:r>
                    </a:p>
                  </a:txBody>
                  <a:tcPr>
                    <a:solidFill>
                      <a:srgbClr val="FFFFFF"/>
                    </a:solidFill>
                  </a:tcPr>
                </a:tc>
                <a:tc>
                  <a:txBody>
                    <a:bodyPr/>
                    <a:lstStyle/>
                    <a:p>
                      <a:pPr>
                        <a:defRPr sz="900">
                          <a:solidFill>
                            <a:srgbClr val="1E293B"/>
                          </a:solidFill>
                        </a:defRPr>
                      </a:pPr>
                      <a:r>
                        <a:t>ACM SIGIR, 2021</a:t>
                      </a:r>
                    </a:p>
                  </a:txBody>
                  <a:tcPr>
                    <a:solidFill>
                      <a:srgbClr val="FFFFFF"/>
                    </a:solidFill>
                  </a:tcPr>
                </a:tc>
                <a:tc>
                  <a:txBody>
                    <a:bodyPr/>
                    <a:lstStyle/>
                    <a:p>
                      <a:pPr>
                        <a:defRPr sz="900">
                          <a:solidFill>
                            <a:srgbClr val="1E293B"/>
                          </a:solidFill>
                        </a:defRPr>
                      </a:pPr>
                      <a:r>
                        <a:t>Mapped Supreme Court judicial precedent influence using citation graph analysis.</a:t>
                      </a:r>
                    </a:p>
                  </a:txBody>
                  <a:tcPr>
                    <a:solidFill>
                      <a:srgbClr val="FFFFFF"/>
                    </a:solidFill>
                  </a:tcPr>
                </a:tc>
                <a:tc>
                  <a:txBody>
                    <a:bodyPr/>
                    <a:lstStyle/>
                    <a:p>
                      <a:pPr>
                        <a:defRPr sz="900">
                          <a:solidFill>
                            <a:srgbClr val="1E293B"/>
                          </a:solidFill>
                        </a:defRPr>
                      </a:pPr>
                      <a:r>
                        <a:t>Restricted to historical analysis without real-time petition drafting.</a:t>
                      </a:r>
                    </a:p>
                  </a:txBody>
                  <a:tcPr>
                    <a:solidFill>
                      <a:srgbClr val="FFFFFF"/>
                    </a:solidFill>
                  </a:tcPr>
                </a:tc>
                <a:tc>
                  <a:txBody>
                    <a:bodyPr/>
                    <a:lstStyle/>
                    <a:p>
                      <a:pPr>
                        <a:defRPr sz="900">
                          <a:solidFill>
                            <a:srgbClr val="1E293B"/>
                          </a:solidFill>
                        </a:defRPr>
                      </a:pPr>
                      <a:r>
                        <a:t>Extract ratio decidendi for grounding.</a:t>
                      </a:r>
                    </a:p>
                  </a:txBody>
                  <a:tcPr>
                    <a:solidFill>
                      <a:srgbClr val="FFFFFF"/>
                    </a:solidFill>
                  </a:tcPr>
                </a:tc>
              </a:tr>
              <a:tr h="792480">
                <a:tc>
                  <a:txBody>
                    <a:bodyPr/>
                    <a:lstStyle/>
                    <a:p>
                      <a:pPr>
                        <a:defRPr sz="900">
                          <a:solidFill>
                            <a:srgbClr val="1E293B"/>
                          </a:solidFill>
                        </a:defRPr>
                      </a:pPr>
                      <a:r>
                        <a:t>9</a:t>
                      </a:r>
                    </a:p>
                  </a:txBody>
                  <a:tcPr>
                    <a:solidFill>
                      <a:srgbClr val="F1F5F9"/>
                    </a:solidFill>
                  </a:tcPr>
                </a:tc>
                <a:tc>
                  <a:txBody>
                    <a:bodyPr/>
                    <a:lstStyle/>
                    <a:p>
                      <a:pPr>
                        <a:defRPr sz="900">
                          <a:solidFill>
                            <a:srgbClr val="1E293B"/>
                          </a:solidFill>
                        </a:defRPr>
                      </a:pPr>
                      <a:r>
                        <a:t>Crime Analytics: Modus Operandi &amp; Repeat-Offender ML</a:t>
                      </a:r>
                      <a:br/>
                      <a:r>
                        <a:t>M. Devi, S. Patil, V. Deshmukh</a:t>
                      </a:r>
                    </a:p>
                  </a:txBody>
                  <a:tcPr>
                    <a:solidFill>
                      <a:srgbClr val="F1F5F9"/>
                    </a:solidFill>
                  </a:tcPr>
                </a:tc>
                <a:tc>
                  <a:txBody>
                    <a:bodyPr/>
                    <a:lstStyle/>
                    <a:p>
                      <a:pPr>
                        <a:defRPr sz="900">
                          <a:solidFill>
                            <a:srgbClr val="1E293B"/>
                          </a:solidFill>
                        </a:defRPr>
                      </a:pPr>
                      <a:r>
                        <a:t>Int. J. Law &amp; Info. Tech, 2025</a:t>
                      </a:r>
                    </a:p>
                  </a:txBody>
                  <a:tcPr>
                    <a:solidFill>
                      <a:srgbClr val="F1F5F9"/>
                    </a:solidFill>
                  </a:tcPr>
                </a:tc>
                <a:tc>
                  <a:txBody>
                    <a:bodyPr/>
                    <a:lstStyle/>
                    <a:p>
                      <a:pPr>
                        <a:defRPr sz="900">
                          <a:solidFill>
                            <a:srgbClr val="1E293B"/>
                          </a:solidFill>
                        </a:defRPr>
                      </a:pPr>
                      <a:r>
                        <a:t>Applied KNN and clustering to profile repeat offenders across police databases.</a:t>
                      </a:r>
                    </a:p>
                  </a:txBody>
                  <a:tcPr>
                    <a:solidFill>
                      <a:srgbClr val="F1F5F9"/>
                    </a:solidFill>
                  </a:tcPr>
                </a:tc>
                <a:tc>
                  <a:txBody>
                    <a:bodyPr/>
                    <a:lstStyle/>
                    <a:p>
                      <a:pPr>
                        <a:defRPr sz="900">
                          <a:solidFill>
                            <a:srgbClr val="1E293B"/>
                          </a:solidFill>
                        </a:defRPr>
                      </a:pPr>
                      <a:r>
                        <a:t>Disconnected from legal jurisprudence and court bail petitions.</a:t>
                      </a:r>
                    </a:p>
                  </a:txBody>
                  <a:tcPr>
                    <a:solidFill>
                      <a:srgbClr val="F1F5F9"/>
                    </a:solidFill>
                  </a:tcPr>
                </a:tc>
                <a:tc>
                  <a:txBody>
                    <a:bodyPr/>
                    <a:lstStyle/>
                    <a:p>
                      <a:pPr>
                        <a:defRPr sz="900">
                          <a:solidFill>
                            <a:srgbClr val="1E293B"/>
                          </a:solidFill>
                        </a:defRPr>
                      </a:pPr>
                      <a:r>
                        <a:t>Integrate trained KNN &amp; RF risk profiler.</a:t>
                      </a:r>
                    </a:p>
                  </a:txBody>
                  <a:tcPr>
                    <a:solidFill>
                      <a:srgbClr val="F1F5F9"/>
                    </a:solidFill>
                  </a:tcPr>
                </a:tc>
              </a:tr>
              <a:tr h="792480">
                <a:tc>
                  <a:txBody>
                    <a:bodyPr/>
                    <a:lstStyle/>
                    <a:p>
                      <a:pPr>
                        <a:defRPr sz="900">
                          <a:solidFill>
                            <a:srgbClr val="1E293B"/>
                          </a:solidFill>
                        </a:defRPr>
                      </a:pPr>
                      <a:r>
                        <a:t>10</a:t>
                      </a:r>
                    </a:p>
                  </a:txBody>
                  <a:tcPr>
                    <a:solidFill>
                      <a:srgbClr val="FFFFFF"/>
                    </a:solidFill>
                  </a:tcPr>
                </a:tc>
                <a:tc>
                  <a:txBody>
                    <a:bodyPr/>
                    <a:lstStyle/>
                    <a:p>
                      <a:pPr>
                        <a:defRPr sz="900">
                          <a:solidFill>
                            <a:srgbClr val="1E293B"/>
                          </a:solidFill>
                        </a:defRPr>
                      </a:pPr>
                      <a:r>
                        <a:t>Self-Grounding Citation Verification in Legal AI</a:t>
                      </a:r>
                      <a:br/>
                      <a:r>
                        <a:t>R. Cui, H. Zhang, Q. Liu, Y. Zhang</a:t>
                      </a:r>
                    </a:p>
                  </a:txBody>
                  <a:tcPr>
                    <a:solidFill>
                      <a:srgbClr val="FFFFFF"/>
                    </a:solidFill>
                  </a:tcPr>
                </a:tc>
                <a:tc>
                  <a:txBody>
                    <a:bodyPr/>
                    <a:lstStyle/>
                    <a:p>
                      <a:pPr>
                        <a:defRPr sz="900">
                          <a:solidFill>
                            <a:srgbClr val="1E293B"/>
                          </a:solidFill>
                        </a:defRPr>
                      </a:pPr>
                      <a:r>
                        <a:t>Info. Process. &amp; Mgmt., 2026</a:t>
                      </a:r>
                    </a:p>
                  </a:txBody>
                  <a:tcPr>
                    <a:solidFill>
                      <a:srgbClr val="FFFFFF"/>
                    </a:solidFill>
                  </a:tcPr>
                </a:tc>
                <a:tc>
                  <a:txBody>
                    <a:bodyPr/>
                    <a:lstStyle/>
                    <a:p>
                      <a:pPr>
                        <a:defRPr sz="900">
                          <a:solidFill>
                            <a:srgbClr val="1E293B"/>
                          </a:solidFill>
                        </a:defRPr>
                      </a:pPr>
                      <a:r>
                        <a:t>Engineered iterative fact-checking loops to penalize hallucinated citations.</a:t>
                      </a:r>
                    </a:p>
                  </a:txBody>
                  <a:tcPr>
                    <a:solidFill>
                      <a:srgbClr val="FFFFFF"/>
                    </a:solidFill>
                  </a:tcPr>
                </a:tc>
                <a:tc>
                  <a:txBody>
                    <a:bodyPr/>
                    <a:lstStyle/>
                    <a:p>
                      <a:pPr>
                        <a:defRPr sz="900">
                          <a:solidFill>
                            <a:srgbClr val="1E293B"/>
                          </a:solidFill>
                        </a:defRPr>
                      </a:pPr>
                      <a:r>
                        <a:t>Tested only on US federal code; no Indian criminal statute support.</a:t>
                      </a:r>
                    </a:p>
                  </a:txBody>
                  <a:tcPr>
                    <a:solidFill>
                      <a:srgbClr val="FFFFFF"/>
                    </a:solidFill>
                  </a:tcPr>
                </a:tc>
                <a:tc>
                  <a:txBody>
                    <a:bodyPr/>
                    <a:lstStyle/>
                    <a:p>
                      <a:pPr>
                        <a:defRPr sz="900">
                          <a:solidFill>
                            <a:srgbClr val="1E293B"/>
                          </a:solidFill>
                        </a:defRPr>
                      </a:pPr>
                      <a:r>
                        <a:t>Formulate Grounding Confidence Metric (Cg).</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Project Workflow: 4-Stage Judicial Pipeline</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371600"/>
            <a:ext cx="2606040" cy="475488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wrap="square"/>
          <a:lstStyle/>
          <a:p>
            <a:pPr algn="ctr">
              <a:defRPr sz="1300" b="1">
                <a:solidFill>
                  <a:srgbClr val="1E3A8A"/>
                </a:solidFill>
              </a:defRPr>
            </a:pPr>
            <a:r>
              <a:t>STAGE 1</a:t>
            </a:r>
          </a:p>
          <a:p>
            <a:pPr>
              <a:defRPr sz="1200" b="1">
                <a:solidFill>
                  <a:srgbClr val="1E293B"/>
                </a:solidFill>
              </a:defRPr>
            </a:pPr>
            <a:r>
              <a:t>Data Acquisition &amp; Ingestion</a:t>
            </a:r>
          </a:p>
          <a:p>
            <a:br/>
            <a:pPr>
              <a:defRPr sz="950">
                <a:solidFill>
                  <a:srgbClr val="1E293B"/>
                </a:solidFill>
              </a:defRPr>
            </a:pPr>
            <a:r>
              <a:t>• Upload digital/scanned FIR (PDF, JPG, PNG, TXT)</a:t>
            </a:r>
            <a:br/>
            <a:r>
              <a:t>• In-memory PyMuPDF rasterization (zero Poppler)</a:t>
            </a:r>
            <a:br/>
            <a:r>
              <a:t>• Local Tesseract auto-discovery for OCR</a:t>
            </a:r>
            <a:br/>
            <a:r>
              <a:t>• Extract structured legal JSON entities (penal codes, accused traits, incident date, location)</a:t>
            </a:r>
          </a:p>
        </p:txBody>
      </p:sp>
      <p:sp>
        <p:nvSpPr>
          <p:cNvPr id="6" name="Rounded Rectangle 5"/>
          <p:cNvSpPr/>
          <p:nvPr/>
        </p:nvSpPr>
        <p:spPr>
          <a:xfrm>
            <a:off x="3429000" y="1371600"/>
            <a:ext cx="2606040" cy="475488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wrap="square"/>
          <a:lstStyle/>
          <a:p>
            <a:pPr algn="ctr">
              <a:defRPr sz="1300" b="1">
                <a:solidFill>
                  <a:srgbClr val="D97706"/>
                </a:solidFill>
              </a:defRPr>
            </a:pPr>
            <a:r>
              <a:t>STAGE 2</a:t>
            </a:r>
          </a:p>
          <a:p>
            <a:pPr>
              <a:defRPr sz="1200" b="1">
                <a:solidFill>
                  <a:srgbClr val="1E293B"/>
                </a:solidFill>
              </a:defRPr>
            </a:pPr>
            <a:r>
              <a:t>Parallel Multi-Source Retrieval</a:t>
            </a:r>
          </a:p>
          <a:p>
            <a:br/>
            <a:pPr>
              <a:defRPr sz="950">
                <a:solidFill>
                  <a:srgbClr val="1E293B"/>
                </a:solidFill>
              </a:defRPr>
            </a:pPr>
            <a:r>
              <a:t>• Dense Vector Search: 10k precedents in Qdrant</a:t>
            </a:r>
            <a:br/>
            <a:r>
              <a:t>• Statutory Master Matching: BNS 2023 &amp; BNSS 2023</a:t>
            </a:r>
            <a:br/>
            <a:r>
              <a:t>• Machine Learning Profiling: KNN MO similarity</a:t>
            </a:r>
            <a:br/>
            <a:r>
              <a:t>• Random Forest Recidivism Risk (Low/Med/High)</a:t>
            </a:r>
            <a:br/>
            <a:r>
              <a:t>• Constitutional Mandate Lookup: Article 21 rights</a:t>
            </a:r>
          </a:p>
        </p:txBody>
      </p:sp>
      <p:sp>
        <p:nvSpPr>
          <p:cNvPr id="7" name="Rounded Rectangle 6"/>
          <p:cNvSpPr/>
          <p:nvPr/>
        </p:nvSpPr>
        <p:spPr>
          <a:xfrm>
            <a:off x="6126480" y="1371600"/>
            <a:ext cx="2606040" cy="475488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wrap="square"/>
          <a:lstStyle/>
          <a:p>
            <a:pPr algn="ctr">
              <a:defRPr sz="1300" b="1">
                <a:solidFill>
                  <a:srgbClr val="1E3A8A"/>
                </a:solidFill>
              </a:defRPr>
            </a:pPr>
            <a:r>
              <a:t>STAGE 3</a:t>
            </a:r>
          </a:p>
          <a:p>
            <a:pPr>
              <a:defRPr sz="1200" b="1">
                <a:solidFill>
                  <a:srgbClr val="1E293B"/>
                </a:solidFill>
              </a:defRPr>
            </a:pPr>
            <a:r>
              <a:t>LangGraph Agentic Synthesis</a:t>
            </a:r>
          </a:p>
          <a:p>
            <a:br/>
            <a:pPr>
              <a:defRPr sz="950">
                <a:solidFill>
                  <a:srgbClr val="1E293B"/>
                </a:solidFill>
              </a:defRPr>
            </a:pPr>
            <a:r>
              <a:t>• Stateful DAG multi-agent orchestration</a:t>
            </a:r>
            <a:br/>
            <a:r>
              <a:t>• Grounded legal drafting with multi-source context</a:t>
            </a:r>
            <a:br/>
            <a:r>
              <a:t>• Multi-provider fallback: Gemini 1.5 Flash -&gt; Groq</a:t>
            </a:r>
            <a:br/>
            <a:r>
              <a:t>• Supreme Court Order XXI formatting</a:t>
            </a:r>
            <a:br/>
            <a:r>
              <a:t>• Native Marathi District Court bail petition</a:t>
            </a:r>
          </a:p>
        </p:txBody>
      </p:sp>
      <p:sp>
        <p:nvSpPr>
          <p:cNvPr id="8" name="Rounded Rectangle 7"/>
          <p:cNvSpPr/>
          <p:nvPr/>
        </p:nvSpPr>
        <p:spPr>
          <a:xfrm>
            <a:off x="8823960" y="1371600"/>
            <a:ext cx="2606040" cy="475488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wrap="square"/>
          <a:lstStyle/>
          <a:p>
            <a:pPr algn="ctr">
              <a:defRPr sz="1300" b="1">
                <a:solidFill>
                  <a:srgbClr val="0F172A"/>
                </a:solidFill>
              </a:defRPr>
            </a:pPr>
            <a:r>
              <a:t>STAGE 4</a:t>
            </a:r>
          </a:p>
          <a:p>
            <a:pPr>
              <a:defRPr sz="1200" b="1">
                <a:solidFill>
                  <a:srgbClr val="1E293B"/>
                </a:solidFill>
              </a:defRPr>
            </a:pPr>
            <a:r>
              <a:t>Citation Verification &amp; Output</a:t>
            </a:r>
          </a:p>
          <a:p>
            <a:br/>
            <a:pPr>
              <a:defRPr sz="950">
                <a:solidFill>
                  <a:srgbClr val="1E293B"/>
                </a:solidFill>
              </a:defRPr>
            </a:pPr>
            <a:r>
              <a:t>• Deterministic citation audit against statutory masters</a:t>
            </a:r>
            <a:br/>
            <a:r>
              <a:t>• Compute Grounding Confidence Score (Cg)</a:t>
            </a:r>
            <a:br/>
            <a:r>
              <a:t>• Red-flag unverified/hallucinated penal sections</a:t>
            </a:r>
            <a:br/>
            <a:r>
              <a:t>• Interactive court-ready dashboard with deep-links</a:t>
            </a:r>
            <a:br/>
            <a:r>
              <a:t>• One-click clipboard copy and court-paper print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Data Flow Diagrams (Level 0, 1 &amp; 2)</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371600"/>
            <a:ext cx="10728655" cy="150876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365760" tIns="137160" wrap="square"/>
          <a:lstStyle/>
          <a:p>
            <a:pPr algn="ctr">
              <a:defRPr sz="1300" b="1">
                <a:solidFill>
                  <a:srgbClr val="1E3A8A"/>
                </a:solidFill>
              </a:defRPr>
            </a:pPr>
            <a:r>
              <a:t>Level 0 DFD (Context Diagram)</a:t>
            </a:r>
          </a:p>
          <a:p>
            <a:pPr>
              <a:defRPr sz="1000">
                <a:solidFill>
                  <a:srgbClr val="1E293B"/>
                </a:solidFill>
              </a:defRPr>
            </a:pPr>
            <a:r>
              <a:t>Input: Advocate / Police Uploads FIR Document or Crime Narrative</a:t>
            </a:r>
            <a:br/>
            <a:r>
              <a:t>Central Entity [0]: NyayaAI Judicial Intelligence System</a:t>
            </a:r>
            <a:br/>
            <a:r>
              <a:t>Data Stores: Precedents Vector Store, Statutory Masters, Criminal Registries</a:t>
            </a:r>
            <a:br/>
            <a:r>
              <a:t>Outputs: Court Dossier, Precedent Deep-Links, ML Suspect Match, Verified Bail Petition to Defense/Court</a:t>
            </a:r>
          </a:p>
        </p:txBody>
      </p:sp>
      <p:sp>
        <p:nvSpPr>
          <p:cNvPr id="6" name="Rounded Rectangle 5"/>
          <p:cNvSpPr/>
          <p:nvPr/>
        </p:nvSpPr>
        <p:spPr>
          <a:xfrm>
            <a:off x="731520" y="3017520"/>
            <a:ext cx="10728655" cy="150876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365760" tIns="137160" wrap="square"/>
          <a:lstStyle/>
          <a:p>
            <a:pPr algn="ctr">
              <a:defRPr sz="1300" b="1">
                <a:solidFill>
                  <a:srgbClr val="1E3A8A"/>
                </a:solidFill>
              </a:defRPr>
            </a:pPr>
            <a:r>
              <a:t>Level 1 DFD (Main Processes)</a:t>
            </a:r>
          </a:p>
          <a:p>
            <a:pPr>
              <a:defRPr sz="1000">
                <a:solidFill>
                  <a:srgbClr val="1E293B"/>
                </a:solidFill>
              </a:defRPr>
            </a:pPr>
            <a:r>
              <a:t>[1.0 Document Ingestion &amp; OCR] ──&gt; Preprocessed Legal Text (D1: Raw File Store)</a:t>
            </a:r>
            <a:br/>
            <a:r>
              <a:t>[2.0 Entity Extraction &amp; Penal Mapping] ──&gt; Structured Legal JSON (D2: Entity Cache)</a:t>
            </a:r>
            <a:br/>
            <a:r>
              <a:t>[3.0 Parallel Retrieval &amp; ML Profiling] ──&gt; Fused Precedents &amp; Risk Score (D3: Qdrant / Models)</a:t>
            </a:r>
            <a:br/>
            <a:r>
              <a:t>[4.0 Judicial Synthesis &amp; Citation Audit] ──&gt; Verified Petition &amp; Dossier (D4: Dossier DB)</a:t>
            </a:r>
          </a:p>
        </p:txBody>
      </p:sp>
      <p:sp>
        <p:nvSpPr>
          <p:cNvPr id="7" name="Rounded Rectangle 6"/>
          <p:cNvSpPr/>
          <p:nvPr/>
        </p:nvSpPr>
        <p:spPr>
          <a:xfrm>
            <a:off x="731520" y="4663440"/>
            <a:ext cx="10728655" cy="150876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365760" tIns="137160" wrap="square"/>
          <a:lstStyle/>
          <a:p>
            <a:pPr algn="ctr">
              <a:defRPr sz="1300" b="1">
                <a:solidFill>
                  <a:srgbClr val="1E3A8A"/>
                </a:solidFill>
              </a:defRPr>
            </a:pPr>
            <a:r>
              <a:t>Level 2 DFD (Process 3.0: Retrieval &amp; RAG)</a:t>
            </a:r>
          </a:p>
          <a:p>
            <a:pPr>
              <a:defRPr sz="1000">
                <a:solidFill>
                  <a:srgbClr val="1E293B"/>
                </a:solidFill>
              </a:defRPr>
            </a:pPr>
            <a:r>
              <a:t>[3.1 Query Embedding Generator] ──&gt; 384-Dim Vector ──&gt; Qdrant Cosine Search (Top-3 Precedents)</a:t>
            </a:r>
            <a:br/>
            <a:r>
              <a:t>[3.2 Statutory Cross-Mapper] ──&gt; IPC ↔ BNS 2023 Mapping ──&gt; Legislative Articles</a:t>
            </a:r>
            <a:br/>
            <a:r>
              <a:t>[3.3 ML Suspect Profiler] ──&gt; Feature Normalizer ──&gt; KNN MO Match + Random Forest Risk Prediction</a:t>
            </a:r>
            <a:br/>
            <a:r>
              <a:t>[3.4 Citation Verifier Loop] ──&gt; Set Intersection Grounding Cg ──&gt; Hallucination Audit Flag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System Architecture: Decoupled 7-Layer Design</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280160"/>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00" b="0">
                <a:solidFill>
                  <a:srgbClr val="1E293B"/>
                </a:solidFill>
              </a:defRPr>
            </a:pPr>
            <a:r>
              <a:t>Layer 1: Presentation:  HTML5, Glassmorphic CSS3, Vanilla JS ES6+</a:t>
            </a:r>
            <a:br/>
            <a:r>
              <a:t>Research Console, SC Order XXI Drafting, Marathi Court Paper, ML Profiler</a:t>
            </a:r>
          </a:p>
        </p:txBody>
      </p:sp>
      <p:sp>
        <p:nvSpPr>
          <p:cNvPr id="6" name="Rounded Rectangle 5"/>
          <p:cNvSpPr/>
          <p:nvPr/>
        </p:nvSpPr>
        <p:spPr>
          <a:xfrm>
            <a:off x="731520" y="1993392"/>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00" b="0">
                <a:solidFill>
                  <a:srgbClr val="1E293B"/>
                </a:solidFill>
              </a:defRPr>
            </a:pPr>
            <a:r>
              <a:t>Layer 2: API Gateway:  FastAPI Asynchronous Gateway (/api/v1), Pydantic v2 Type-Safe Request Schemas,</a:t>
            </a:r>
            <a:br/>
            <a:r>
              <a:t>CORS Middleware, OpenAPI/Swagger Documentation</a:t>
            </a:r>
          </a:p>
        </p:txBody>
      </p:sp>
      <p:sp>
        <p:nvSpPr>
          <p:cNvPr id="7" name="Rounded Rectangle 6"/>
          <p:cNvSpPr/>
          <p:nvPr/>
        </p:nvSpPr>
        <p:spPr>
          <a:xfrm>
            <a:off x="731520" y="2706624"/>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00" b="0">
                <a:solidFill>
                  <a:srgbClr val="1E293B"/>
                </a:solidFill>
              </a:defRPr>
            </a:pPr>
            <a:r>
              <a:t>Layer 3: Ingestion &amp; OCR:  PyMuPDF In-Memory Stream Processing (Zero Poppler), Local Tesseract Discovery,</a:t>
            </a:r>
            <a:br/>
            <a:r>
              <a:t>Graceful Scanned Document Placeholders</a:t>
            </a:r>
          </a:p>
        </p:txBody>
      </p:sp>
      <p:sp>
        <p:nvSpPr>
          <p:cNvPr id="8" name="Rounded Rectangle 7"/>
          <p:cNvSpPr/>
          <p:nvPr/>
        </p:nvSpPr>
        <p:spPr>
          <a:xfrm>
            <a:off x="731520" y="3419856"/>
            <a:ext cx="10728655" cy="658368"/>
          </a:xfrm>
          <a:prstGeom prst="roundRect">
            <a:avLst/>
          </a:prstGeom>
          <a:solidFill>
            <a:srgbClr val="0F172A"/>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00" b="1">
                <a:solidFill>
                  <a:srgbClr val="FFFFFF"/>
                </a:solidFill>
              </a:defRPr>
            </a:pPr>
            <a:r>
              <a:t>Layer 4: Agentic State Engine:  LangGraph StateGraph DAG: extract_fir -&gt; parallel_retrieve -&gt; synthesize -&gt; audit</a:t>
            </a:r>
            <a:br/>
            <a:r>
              <a:t>Stateful error trapping and checkpointing</a:t>
            </a:r>
          </a:p>
        </p:txBody>
      </p:sp>
      <p:sp>
        <p:nvSpPr>
          <p:cNvPr id="9" name="Rounded Rectangle 8"/>
          <p:cNvSpPr/>
          <p:nvPr/>
        </p:nvSpPr>
        <p:spPr>
          <a:xfrm>
            <a:off x="731520" y="4133088"/>
            <a:ext cx="10728655" cy="658368"/>
          </a:xfrm>
          <a:prstGeom prst="roundRect">
            <a:avLst/>
          </a:prstGeom>
          <a:solidFill>
            <a:srgbClr val="0F172A"/>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00" b="1">
                <a:solidFill>
                  <a:srgbClr val="FFFFFF"/>
                </a:solidFill>
              </a:defRPr>
            </a:pPr>
            <a:r>
              <a:t>Layer 5: Dual Retrieval &amp; ML:  Qdrant Vector DB (10,000+ Precedents via BGE-Small), Statutory Masters (BNS/BNSS),</a:t>
            </a:r>
            <a:br/>
            <a:r>
              <a:t>Trained KNN Modus Operandi Matcher + Random Forest Risk Classifier</a:t>
            </a:r>
          </a:p>
        </p:txBody>
      </p:sp>
      <p:sp>
        <p:nvSpPr>
          <p:cNvPr id="10" name="Rounded Rectangle 9"/>
          <p:cNvSpPr/>
          <p:nvPr/>
        </p:nvSpPr>
        <p:spPr>
          <a:xfrm>
            <a:off x="731520" y="4846320"/>
            <a:ext cx="10728655" cy="65836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00" b="0">
                <a:solidFill>
                  <a:srgbClr val="1E293B"/>
                </a:solidFill>
              </a:defRPr>
            </a:pPr>
            <a:r>
              <a:t>Layer 6: Multi-Tier LLM:  Tier 1: Google Gemini 1.5 Flash | Tier 2: Groq LLaMA-3.3-70B</a:t>
            </a:r>
            <a:br/>
            <a:r>
              <a:t>Tier 3: Offline Deterministic Legal Heuristic Fallback</a:t>
            </a:r>
          </a:p>
        </p:txBody>
      </p:sp>
      <p:sp>
        <p:nvSpPr>
          <p:cNvPr id="11" name="Rounded Rectangle 10"/>
          <p:cNvSpPr/>
          <p:nvPr/>
        </p:nvSpPr>
        <p:spPr>
          <a:xfrm>
            <a:off x="731520" y="5559552"/>
            <a:ext cx="10728655" cy="658368"/>
          </a:xfrm>
          <a:prstGeom prst="roundRect">
            <a:avLst/>
          </a:prstGeom>
          <a:solidFill>
            <a:srgbClr val="0F172A"/>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91440" wrap="square"/>
          <a:lstStyle/>
          <a:p>
            <a:pPr algn="ctr">
              <a:defRPr sz="1100" b="1">
                <a:solidFill>
                  <a:srgbClr val="FFFFFF"/>
                </a:solidFill>
              </a:defRPr>
            </a:pPr>
            <a:r>
              <a:t>Layer 7: Grounding &amp; Verification:  Deterministic Citation Verifier Node, Empirical Grounding Score (Cg),</a:t>
            </a:r>
            <a:br/>
            <a:r>
              <a:t>Full Legal Dossier Compilation with Deep-Linked Citations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Algorithm: Multi-Source Self-Grounding Judicial Intelligence (MSJIA)</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28016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457200" tIns="274320" wrap="square"/>
          <a:lstStyle/>
          <a:p>
            <a:pPr algn="ctr">
              <a:defRPr sz="1300" b="1">
                <a:solidFill>
                  <a:srgbClr val="1E3A8A"/>
                </a:solidFill>
              </a:defRPr>
            </a:pPr>
            <a:r>
              <a:t>ALGORITHM: MSJIA (Multi-Source Self-Grounding Judicial Intelligence Algorithm)</a:t>
            </a:r>
          </a:p>
          <a:p>
            <a:pPr>
              <a:defRPr sz="1050" b="1">
                <a:solidFill>
                  <a:srgbClr val="D97706"/>
                </a:solidFill>
              </a:defRPr>
            </a:pPr>
            <a:r>
              <a:t>Input: FIR Document (PDF/Image/Text), Accused Physical Attributes, Procedural Filing Type (SC SLP / Marathi Bail)</a:t>
            </a:r>
            <a:br/>
            <a:r>
              <a:t>Output: Grounded Judicial Dossier, Precedent Ratios, ML Recidivism Risk Level, Verified Court Petition, Grounding Score (Cg)</a:t>
            </a:r>
          </a:p>
          <a:p>
            <a:br/>
            <a:pPr>
              <a:defRPr sz="950">
                <a:solidFill>
                  <a:srgbClr val="1E293B"/>
                </a:solidFill>
              </a:defRPr>
            </a:pPr>
            <a:r>
              <a:t>1. Ingestion: Receive byte stream; render in-memory page pixmaps via PyMuPDF; execute local OCR if text &lt; 50 chars.</a:t>
            </a:r>
            <a:br/>
            <a:r>
              <a:t>2. Entity Extraction: Parse incident summary, applied sections (IPC/CrPC/BNS/BNSS), suspect traits, date, and location into JSON.</a:t>
            </a:r>
            <a:br/>
            <a:r>
              <a:t>3. Cross-Statutory Mapping: Correlate legacy penal sections with corresponding BNS/BNSS statutory codes.</a:t>
            </a:r>
            <a:br/>
            <a:r>
              <a:t>4. Dense Semantic Embedding: Generate normalized query vector u via BAAI/bge-small-en-v1.5 (dimension = 384).</a:t>
            </a:r>
            <a:br/>
            <a:r>
              <a:t>5. Precedent Retrieval: Query Qdrant vector space using Cosine Similarity; retrieve top-3 judgments where Sim(u, v) &gt;= 0.60.</a:t>
            </a:r>
            <a:br/>
            <a:r>
              <a:t>6. ML Suspect Profiling: Normalize accused features x_q; execute KNN cosine query to retrieve top-k matching historical MO syndicates.</a:t>
            </a:r>
            <a:br/>
            <a:r>
              <a:t>7. Recidivism Risk Classification: Evaluate x_q using trained Random Forest (T=100) to predict risk class y in {Low, Med, High}.</a:t>
            </a:r>
            <a:br/>
            <a:r>
              <a:t>8. Multi-Source Context Aggregation: Construct state dictionary merging statutes, case ratios, and offender risk profiles.</a:t>
            </a:r>
            <a:br/>
            <a:r>
              <a:t>9. Generative Synthesis: Compile structured judicial dossier / Order XXI petition via Google Gemini 1.5 Flash (Groq fallback).</a:t>
            </a:r>
            <a:br/>
            <a:r>
              <a:t>10. Citation Verification Audit: Extract all cited legal sections S_cited; perform set intersection against canonical master S_retrieved.</a:t>
            </a:r>
            <a:br/>
            <a:r>
              <a:t>11. Grounding Score Computation: Compute Cg = (|S_cited ∩ S_retrieved| / |S_cited|) * 100%. If Cg &lt; 100%, flag unverified sections.</a:t>
            </a:r>
            <a:br/>
            <a:r>
              <a:t>12. Dashboard Serialization: Render dossier sub-tabs, deep-linked judgment viewer, and one-click printable legal formatting.</a:t>
            </a:r>
            <a:br/>
            <a:r>
              <a:t>13. Return Status: Emit HTTP 200 OK payload with verified court-ready output.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Project Work Done Till Now: Verified Deliverables</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371600"/>
            <a:ext cx="5120640" cy="15087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Core FastAPI Backend Running</a:t>
            </a:r>
          </a:p>
          <a:p>
            <a:br/>
            <a:pPr>
              <a:defRPr sz="1050">
                <a:solidFill>
                  <a:srgbClr val="1E293B"/>
                </a:solidFill>
              </a:defRPr>
            </a:pPr>
            <a:r>
              <a:t>Asynchronous API online on port 8000; interactive Swagger UI active at /docs; health check endpoint returning 200 OK.</a:t>
            </a:r>
          </a:p>
        </p:txBody>
      </p:sp>
      <p:sp>
        <p:nvSpPr>
          <p:cNvPr id="6" name="Rounded Rectangle 5"/>
          <p:cNvSpPr/>
          <p:nvPr/>
        </p:nvSpPr>
        <p:spPr>
          <a:xfrm>
            <a:off x="731520" y="3017520"/>
            <a:ext cx="5120640" cy="15087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10,000 Cases Indexed in Qdrant</a:t>
            </a:r>
          </a:p>
          <a:p>
            <a:br/>
            <a:pPr>
              <a:defRPr sz="1050">
                <a:solidFill>
                  <a:srgbClr val="1E293B"/>
                </a:solidFill>
              </a:defRPr>
            </a:pPr>
            <a:r>
              <a:t>Dense vector database populated with 10k Supreme Court precedents using local BGE embeddings and disk persistence.</a:t>
            </a:r>
          </a:p>
        </p:txBody>
      </p:sp>
      <p:sp>
        <p:nvSpPr>
          <p:cNvPr id="7" name="Rounded Rectangle 6"/>
          <p:cNvSpPr/>
          <p:nvPr/>
        </p:nvSpPr>
        <p:spPr>
          <a:xfrm>
            <a:off x="731520" y="4663440"/>
            <a:ext cx="5120640" cy="15087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PyMuPDF In-Memory PDF Engine</a:t>
            </a:r>
          </a:p>
          <a:p>
            <a:br/>
            <a:pPr>
              <a:defRPr sz="1050">
                <a:solidFill>
                  <a:srgbClr val="1E293B"/>
                </a:solidFill>
              </a:defRPr>
            </a:pPr>
            <a:r>
              <a:t>Zero-Poppler document ingestion pipeline; tested with multi-page PDFs; successfully parses scanned FIRs without errors.</a:t>
            </a:r>
          </a:p>
        </p:txBody>
      </p:sp>
      <p:sp>
        <p:nvSpPr>
          <p:cNvPr id="8" name="Rounded Rectangle 7"/>
          <p:cNvSpPr/>
          <p:nvPr/>
        </p:nvSpPr>
        <p:spPr>
          <a:xfrm>
            <a:off x="6309360" y="1371600"/>
            <a:ext cx="5120640" cy="15087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Offline ML Profiler Models Trained</a:t>
            </a:r>
          </a:p>
          <a:p>
            <a:br/>
            <a:pPr>
              <a:defRPr sz="1050">
                <a:solidFill>
                  <a:srgbClr val="1E293B"/>
                </a:solidFill>
              </a:defRPr>
            </a:pPr>
            <a:r>
              <a:t>K-Nearest Neighbors and Random Forest models trained and serialised into .joblib weights; achieves &gt;90% precision in risk profiling.</a:t>
            </a:r>
          </a:p>
        </p:txBody>
      </p:sp>
      <p:sp>
        <p:nvSpPr>
          <p:cNvPr id="9" name="Rounded Rectangle 8"/>
          <p:cNvSpPr/>
          <p:nvPr/>
        </p:nvSpPr>
        <p:spPr>
          <a:xfrm>
            <a:off x="6309360" y="3017520"/>
            <a:ext cx="5120640" cy="15087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Citation Verification Loop Active</a:t>
            </a:r>
          </a:p>
          <a:p>
            <a:br/>
            <a:pPr>
              <a:defRPr sz="1050">
                <a:solidFill>
                  <a:srgbClr val="1E293B"/>
                </a:solidFill>
              </a:defRPr>
            </a:pPr>
            <a:r>
              <a:t>Deterministic grounding module calculating Cg score; tested and verified on landmark rulings (Satender Kumar Antil, Sushila Aggarwal).</a:t>
            </a:r>
          </a:p>
        </p:txBody>
      </p:sp>
      <p:sp>
        <p:nvSpPr>
          <p:cNvPr id="10" name="Rounded Rectangle 9"/>
          <p:cNvSpPr/>
          <p:nvPr/>
        </p:nvSpPr>
        <p:spPr>
          <a:xfrm>
            <a:off x="6309360" y="4663440"/>
            <a:ext cx="5120640" cy="15087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37160" wrap="square"/>
          <a:lstStyle/>
          <a:p>
            <a:pPr algn="ctr">
              <a:defRPr sz="1300" b="1">
                <a:solidFill>
                  <a:srgbClr val="1E3A8A"/>
                </a:solidFill>
              </a:defRPr>
            </a:pPr>
            <a:r>
              <a:t>✅ Glassmorphic Frontend Dashboard</a:t>
            </a:r>
          </a:p>
          <a:p>
            <a:br/>
            <a:pPr>
              <a:defRPr sz="1050">
                <a:solidFill>
                  <a:srgbClr val="1E293B"/>
                </a:solidFill>
              </a:defRPr>
            </a:pPr>
            <a:r>
              <a:t>Responsive web UI running on port 3000; real-time LangGraph node tracker animation; bilingual English/Marathi petition compiler.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91440"/>
          <a:lstStyle/>
          <a:p>
            <a:pPr algn="ctr">
              <a:defRPr sz="1100" b="1">
                <a:solidFill>
                  <a:srgbClr val="D97706"/>
                </a:solidFill>
              </a:defRPr>
            </a:pPr>
            <a:r>
              <a:t>PROJECT STAGE-I PRESENTATION</a:t>
            </a:r>
          </a:p>
          <a:p>
            <a:pPr>
              <a:defRPr sz="2200" b="1">
                <a:solidFill>
                  <a:srgbClr val="FFFFFF"/>
                </a:solidFill>
              </a:defRPr>
            </a:pPr>
            <a:r>
              <a:t>References (IEEE Standard)</a:t>
            </a:r>
          </a:p>
        </p:txBody>
      </p:sp>
      <p:sp>
        <p:nvSpPr>
          <p:cNvPr id="4" name="Rectangle 3"/>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rIns="731520"/>
          <a:lstStyle/>
          <a:p>
            <a:pPr algn="ctr">
              <a:defRPr sz="1000">
                <a:solidFill>
                  <a:srgbClr val="CBD5E1"/>
                </a:solidFill>
              </a:defRPr>
            </a:pPr>
            <a:r>
              <a:t>Ajeenkya DY Patil School of Engineering, Pune | Department of Artificial Intelligence &amp; Data Science | AY 2026-27 | Group ID: 35</a:t>
            </a:r>
          </a:p>
        </p:txBody>
      </p:sp>
      <p:sp>
        <p:nvSpPr>
          <p:cNvPr id="5" name="Rounded Rectangle 4"/>
          <p:cNvSpPr/>
          <p:nvPr/>
        </p:nvSpPr>
        <p:spPr>
          <a:xfrm>
            <a:off x="731520" y="1280160"/>
            <a:ext cx="1072865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457200" tIns="274320" wrap="square"/>
          <a:lstStyle/>
          <a:p>
            <a:pPr algn="ctr">
              <a:defRPr sz="1000">
                <a:solidFill>
                  <a:srgbClr val="1E293B"/>
                </a:solidFill>
              </a:defRPr>
            </a:pPr>
            <a:r>
              <a:t>[1] I. Chalkidis et al., "LEGAL-BERT: The muppets straight out of law school," in Proc. EMNLP, 2020, pp. 2898–2904.</a:t>
            </a:r>
          </a:p>
          <a:p>
            <a:pPr>
              <a:defRPr sz="1000">
                <a:solidFill>
                  <a:srgbClr val="1E293B"/>
                </a:solidFill>
              </a:defRPr>
            </a:pPr>
            <a:r>
              <a:t>[2] S. Paul, P. Goyal, and S. Ghosh, "Pre-trained language models for the Indian legal domain: A study on InLegalBERT and InLongformer," Artif. Intell. Law, vol. 32, no. 3, pp. 511–536, 2024.</a:t>
            </a:r>
          </a:p>
          <a:p>
            <a:pPr>
              <a:defRPr sz="1000">
                <a:solidFill>
                  <a:srgbClr val="1E293B"/>
                </a:solidFill>
              </a:defRPr>
            </a:pPr>
            <a:r>
              <a:t>[3] Y. Gao et al., "Retrieval-augmented generation for large language models: A survey," arXiv:2312.10997, 2023.</a:t>
            </a:r>
          </a:p>
          <a:p>
            <a:pPr>
              <a:defRPr sz="1000">
                <a:solidFill>
                  <a:srgbClr val="1E293B"/>
                </a:solidFill>
              </a:defRPr>
            </a:pPr>
            <a:r>
              <a:t>[4] D. M. Katz, M. J. Bommarito, et al., "GPT-4 passes the bar exam," Phil. Trans. R. Soc. A, vol. 382, no. 2270, p. 20230254, 2024.</a:t>
            </a:r>
          </a:p>
          <a:p>
            <a:pPr>
              <a:defRPr sz="1000">
                <a:solidFill>
                  <a:srgbClr val="1E293B"/>
                </a:solidFill>
              </a:defRPr>
            </a:pPr>
            <a:r>
              <a:t>[5] P. Lewis et al., "Retrieval-augmented generation for knowledge-intensive NLP tasks," in Adv. Neural Inf. Process. Syst. (NeurIPS), vol. 33, pp. 9459–9474, 2020.</a:t>
            </a:r>
          </a:p>
          <a:p>
            <a:pPr>
              <a:defRPr sz="1000">
                <a:solidFill>
                  <a:srgbClr val="1E293B"/>
                </a:solidFill>
              </a:defRPr>
            </a:pPr>
            <a:r>
              <a:t>[6] R. Khatri, A. Verma, and N. Sharma, "Comparative analysis of Bharatiya Nyaya Sanhita (BNS) and Indian Penal Code (IPC)," J. Ind. Judic. Stud., vol. 12, no. 2, pp. 145–168, 2024.</a:t>
            </a:r>
          </a:p>
          <a:p>
            <a:pPr>
              <a:defRPr sz="1000">
                <a:solidFill>
                  <a:srgbClr val="1E293B"/>
                </a:solidFill>
              </a:defRPr>
            </a:pPr>
            <a:r>
              <a:t>[7] L. Zheng, N. Guha, P. Henderson, and D. Ho, "When do large language models help with legal reasoning?," J. Empir. Leg. Stud., vol. 21, no. 2, pp. 312–348, 2024.</a:t>
            </a:r>
          </a:p>
          <a:p>
            <a:pPr>
              <a:defRPr sz="1000">
                <a:solidFill>
                  <a:srgbClr val="1E293B"/>
                </a:solidFill>
              </a:defRPr>
            </a:pPr>
            <a:r>
              <a:t>[8] M. Devi, S. Patil, and V. Deshmukh, "Machine learning applications in crime analytics: Modus operandi classification," Int. J. Law &amp; Info. Tech, vol. 33, no. 1, pp. 89–108, 2025.</a:t>
            </a:r>
          </a:p>
          <a:p>
            <a:pPr>
              <a:defRPr sz="1000">
                <a:solidFill>
                  <a:srgbClr val="1E293B"/>
                </a:solidFill>
              </a:defRPr>
            </a:pPr>
            <a:r>
              <a:t>[9] R. Cui, H. Zhang, Q. Liu, and Y. Zhang, "Self-grounding citation verification for hallucination elimination in legal assistants," Info. Process. &amp; Mgmt., vol. 63, no. 2, p. 103890, 2026.</a:t>
            </a:r>
          </a:p>
          <a:p>
            <a:pPr>
              <a:defRPr sz="1000">
                <a:solidFill>
                  <a:srgbClr val="1E293B"/>
                </a:solidFill>
              </a:defRPr>
            </a:pPr>
            <a:r>
              <a:t>[10] Supreme Court of India, Practice and Procedure: Handbook on Filing Special Leave Petitions, Supreme Court Press, New Delhi, 2024.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011680" y="1371600"/>
            <a:ext cx="8168335" cy="4114800"/>
          </a:xfrm>
          <a:prstGeom prst="roundRect">
            <a:avLst/>
          </a:prstGeom>
          <a:solidFill>
            <a:srgbClr val="1E293B"/>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D97706"/>
                </a:solidFill>
              </a:defRPr>
            </a:pPr>
            <a:r>
              <a:t>THANK YOU!</a:t>
            </a:r>
          </a:p>
          <a:p>
            <a:pPr algn="ctr">
              <a:defRPr sz="1800" b="1">
                <a:solidFill>
                  <a:srgbClr val="FFFFFF"/>
                </a:solidFill>
              </a:defRPr>
            </a:pPr>
            <a:r>
              <a:t>NyayaAI ⚖️</a:t>
            </a:r>
            <a:br/>
            <a:r>
              <a:t>Empowering Indian Criminal Justice Through Grounded Artificial Intelligence</a:t>
            </a:r>
          </a:p>
          <a:p>
            <a:br/>
            <a:pPr algn="ctr">
              <a:defRPr sz="1300">
                <a:solidFill>
                  <a:srgbClr val="CBD5E1"/>
                </a:solidFill>
              </a:defRPr>
            </a:pPr>
            <a:r>
              <a:t>Questions &amp; Discussion Welcomed</a:t>
            </a:r>
            <a:br/>
            <a:br/>
            <a:r>
              <a:t>Department of Artificial Intelligence &amp; Data Science Engineering</a:t>
            </a:r>
            <a:br/>
            <a:r>
              <a:t>Ajeenkya DY Patil School of Engineering, Pune</a:t>
            </a:r>
            <a:br/>
            <a:r>
              <a:t>Academic Year: 2026-27 | Group ID: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