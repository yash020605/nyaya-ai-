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91" r:id="rId2"/>
    <p:sldId id="303" r:id="rId3"/>
    <p:sldId id="265" r:id="rId4"/>
    <p:sldId id="266" r:id="rId5"/>
    <p:sldId id="268" r:id="rId6"/>
    <p:sldId id="269" r:id="rId7"/>
    <p:sldId id="271" r:id="rId8"/>
    <p:sldId id="300" r:id="rId9"/>
    <p:sldId id="274" r:id="rId10"/>
    <p:sldId id="292" r:id="rId11"/>
    <p:sldId id="302" r:id="rId12"/>
    <p:sldId id="304" r:id="rId13"/>
    <p:sldId id="305" r:id="rId14"/>
    <p:sldId id="306" r:id="rId15"/>
    <p:sldId id="283" r:id="rId16"/>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629"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29761" y="0"/>
            <a:ext cx="2929837" cy="497126"/>
          </a:xfrm>
          <a:prstGeom prst="rect">
            <a:avLst/>
          </a:prstGeom>
        </p:spPr>
        <p:txBody>
          <a:bodyPr vert="horz" lIns="91440" tIns="45720" rIns="91440" bIns="45720" rtlCol="0"/>
          <a:lstStyle>
            <a:lvl1pPr algn="r">
              <a:defRPr sz="1200"/>
            </a:lvl1pPr>
          </a:lstStyle>
          <a:p>
            <a:fld id="{EF0A1230-0984-48D0-8176-F1858503D084}" type="datetimeFigureOut">
              <a:rPr lang="en-IN" smtClean="0"/>
              <a:t>14-10-2026</a:t>
            </a:fld>
            <a:endParaRPr lang="en-IN"/>
          </a:p>
        </p:txBody>
      </p:sp>
      <p:sp>
        <p:nvSpPr>
          <p:cNvPr id="4" name="Footer Placeholder 3"/>
          <p:cNvSpPr>
            <a:spLocks noGrp="1"/>
          </p:cNvSpPr>
          <p:nvPr>
            <p:ph type="ftr" sz="quarter" idx="2"/>
          </p:nvPr>
        </p:nvSpPr>
        <p:spPr>
          <a:xfrm>
            <a:off x="0" y="9443662"/>
            <a:ext cx="2929837" cy="497126"/>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29761" y="9443662"/>
            <a:ext cx="2929837" cy="497126"/>
          </a:xfrm>
          <a:prstGeom prst="rect">
            <a:avLst/>
          </a:prstGeom>
        </p:spPr>
        <p:txBody>
          <a:bodyPr vert="horz" lIns="91440" tIns="45720" rIns="91440" bIns="45720" rtlCol="0" anchor="b"/>
          <a:lstStyle>
            <a:lvl1pPr algn="r">
              <a:defRPr sz="1200"/>
            </a:lvl1pPr>
          </a:lstStyle>
          <a:p>
            <a:fld id="{620D1C6D-87D4-4F76-A05F-CF70DB824EDF}" type="slidenum">
              <a:rPr lang="en-IN" smtClean="0"/>
              <a:t>‹#›</a:t>
            </a:fld>
            <a:endParaRPr lang="en-IN"/>
          </a:p>
        </p:txBody>
      </p:sp>
    </p:spTree>
    <p:extLst>
      <p:ext uri="{BB962C8B-B14F-4D97-AF65-F5344CB8AC3E}">
        <p14:creationId xmlns:p14="http://schemas.microsoft.com/office/powerpoint/2010/main" val="11180814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29761" y="0"/>
            <a:ext cx="2929837" cy="497126"/>
          </a:xfrm>
          <a:prstGeom prst="rect">
            <a:avLst/>
          </a:prstGeom>
        </p:spPr>
        <p:txBody>
          <a:bodyPr vert="horz" lIns="91440" tIns="45720" rIns="91440" bIns="45720" rtlCol="0"/>
          <a:lstStyle>
            <a:lvl1pPr algn="r">
              <a:defRPr sz="1200"/>
            </a:lvl1pPr>
          </a:lstStyle>
          <a:p>
            <a:fld id="{35B7B642-E679-41FB-A424-FC3460B95F12}" type="datetimeFigureOut">
              <a:rPr lang="en-US" smtClean="0"/>
              <a:pPr/>
              <a:t>10/14/2026</a:t>
            </a:fld>
            <a:endParaRPr lang="en-US"/>
          </a:p>
        </p:txBody>
      </p:sp>
      <p:sp>
        <p:nvSpPr>
          <p:cNvPr id="4" name="Slide Image Placeholder 3"/>
          <p:cNvSpPr>
            <a:spLocks noGrp="1" noRot="1" noChangeAspect="1"/>
          </p:cNvSpPr>
          <p:nvPr>
            <p:ph type="sldImg" idx="2"/>
          </p:nvPr>
        </p:nvSpPr>
        <p:spPr>
          <a:xfrm>
            <a:off x="68263" y="746125"/>
            <a:ext cx="6624637" cy="3727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6117" y="4722694"/>
            <a:ext cx="5408930" cy="447413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29761" y="9443662"/>
            <a:ext cx="2929837" cy="497126"/>
          </a:xfrm>
          <a:prstGeom prst="rect">
            <a:avLst/>
          </a:prstGeom>
        </p:spPr>
        <p:txBody>
          <a:bodyPr vert="horz" lIns="91440" tIns="45720" rIns="91440" bIns="45720" rtlCol="0" anchor="b"/>
          <a:lstStyle>
            <a:lvl1pPr algn="r">
              <a:defRPr sz="1200"/>
            </a:lvl1pPr>
          </a:lstStyle>
          <a:p>
            <a:fld id="{B3FA5C27-4CC9-4D49-9B38-93DF8B2D3A8D}" type="slidenum">
              <a:rPr lang="en-US" smtClean="0"/>
              <a:pPr/>
              <a:t>‹#›</a:t>
            </a:fld>
            <a:endParaRPr lang="en-US"/>
          </a:p>
        </p:txBody>
      </p:sp>
    </p:spTree>
    <p:extLst>
      <p:ext uri="{BB962C8B-B14F-4D97-AF65-F5344CB8AC3E}">
        <p14:creationId xmlns:p14="http://schemas.microsoft.com/office/powerpoint/2010/main" val="2313395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49300"/>
            <a:ext cx="6618288" cy="3724275"/>
          </a:xfrm>
          <a:solidFill>
            <a:srgbClr val="729FCF"/>
          </a:solidFill>
          <a:ln w="25402">
            <a:solidFill>
              <a:srgbClr val="3465AF"/>
            </a:solidFill>
            <a:prstDash val="solid"/>
          </a:ln>
        </p:spPr>
      </p:sp>
      <p:sp>
        <p:nvSpPr>
          <p:cNvPr id="3" name="Notes Placeholder 2"/>
          <p:cNvSpPr txBox="1">
            <a:spLocks noGrp="1"/>
          </p:cNvSpPr>
          <p:nvPr>
            <p:ph type="body" sz="quarter" idx="1"/>
          </p:nvPr>
        </p:nvSpPr>
        <p:spPr>
          <a:xfrm>
            <a:off x="900632" y="4724565"/>
            <a:ext cx="4959762" cy="4475033"/>
          </a:xfrm>
        </p:spPr>
        <p:txBody>
          <a:bodyPr/>
          <a:lstStyle/>
          <a:p>
            <a:endParaRPr lang="en-US"/>
          </a:p>
        </p:txBody>
      </p:sp>
    </p:spTree>
    <p:extLst>
      <p:ext uri="{BB962C8B-B14F-4D97-AF65-F5344CB8AC3E}">
        <p14:creationId xmlns:p14="http://schemas.microsoft.com/office/powerpoint/2010/main" val="1182280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49300"/>
            <a:ext cx="6618288" cy="3724275"/>
          </a:xfrm>
          <a:solidFill>
            <a:srgbClr val="729FCF"/>
          </a:solidFill>
          <a:ln w="25402">
            <a:solidFill>
              <a:srgbClr val="3465AF"/>
            </a:solidFill>
            <a:prstDash val="solid"/>
          </a:ln>
        </p:spPr>
      </p:sp>
      <p:sp>
        <p:nvSpPr>
          <p:cNvPr id="3" name="Notes Placeholder 2"/>
          <p:cNvSpPr txBox="1">
            <a:spLocks noGrp="1"/>
          </p:cNvSpPr>
          <p:nvPr>
            <p:ph type="body" sz="quarter" idx="1"/>
          </p:nvPr>
        </p:nvSpPr>
        <p:spPr>
          <a:xfrm>
            <a:off x="900632" y="4724565"/>
            <a:ext cx="4959762" cy="4475033"/>
          </a:xfrm>
        </p:spPr>
        <p:txBody>
          <a:bodyPr/>
          <a:lstStyle/>
          <a:p>
            <a:endParaRPr lang="en-US"/>
          </a:p>
        </p:txBody>
      </p:sp>
    </p:spTree>
    <p:extLst>
      <p:ext uri="{BB962C8B-B14F-4D97-AF65-F5344CB8AC3E}">
        <p14:creationId xmlns:p14="http://schemas.microsoft.com/office/powerpoint/2010/main" val="439763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49300"/>
            <a:ext cx="6618288" cy="3724275"/>
          </a:xfrm>
          <a:solidFill>
            <a:srgbClr val="729FCF"/>
          </a:solidFill>
          <a:ln w="25402">
            <a:solidFill>
              <a:srgbClr val="3465AF"/>
            </a:solidFill>
            <a:prstDash val="solid"/>
          </a:ln>
        </p:spPr>
      </p:sp>
      <p:sp>
        <p:nvSpPr>
          <p:cNvPr id="3" name="Notes Placeholder 2"/>
          <p:cNvSpPr txBox="1">
            <a:spLocks noGrp="1"/>
          </p:cNvSpPr>
          <p:nvPr>
            <p:ph type="body" sz="quarter" idx="1"/>
          </p:nvPr>
        </p:nvSpPr>
        <p:spPr>
          <a:xfrm>
            <a:off x="900632" y="4724565"/>
            <a:ext cx="4959762" cy="4475033"/>
          </a:xfrm>
        </p:spPr>
        <p:txBody>
          <a:bodyPr/>
          <a:lstStyle/>
          <a:p>
            <a:endParaRPr lang="en-US"/>
          </a:p>
        </p:txBody>
      </p:sp>
    </p:spTree>
    <p:extLst>
      <p:ext uri="{BB962C8B-B14F-4D97-AF65-F5344CB8AC3E}">
        <p14:creationId xmlns:p14="http://schemas.microsoft.com/office/powerpoint/2010/main" val="2771216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49300"/>
            <a:ext cx="6618288" cy="3724275"/>
          </a:xfrm>
          <a:solidFill>
            <a:srgbClr val="729FCF"/>
          </a:solidFill>
          <a:ln w="25402">
            <a:solidFill>
              <a:srgbClr val="3465AF"/>
            </a:solidFill>
            <a:prstDash val="solid"/>
          </a:ln>
        </p:spPr>
      </p:sp>
      <p:sp>
        <p:nvSpPr>
          <p:cNvPr id="3" name="Notes Placeholder 2"/>
          <p:cNvSpPr txBox="1">
            <a:spLocks noGrp="1"/>
          </p:cNvSpPr>
          <p:nvPr>
            <p:ph type="body" sz="quarter" idx="1"/>
          </p:nvPr>
        </p:nvSpPr>
        <p:spPr>
          <a:xfrm>
            <a:off x="900632" y="4724565"/>
            <a:ext cx="4959762" cy="4475033"/>
          </a:xfrm>
        </p:spPr>
        <p:txBody>
          <a:bodyPr/>
          <a:lstStyle/>
          <a:p>
            <a:endParaRPr lang="en-US"/>
          </a:p>
        </p:txBody>
      </p:sp>
    </p:spTree>
    <p:extLst>
      <p:ext uri="{BB962C8B-B14F-4D97-AF65-F5344CB8AC3E}">
        <p14:creationId xmlns:p14="http://schemas.microsoft.com/office/powerpoint/2010/main" val="1379543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49300"/>
            <a:ext cx="6618288" cy="3724275"/>
          </a:xfrm>
          <a:solidFill>
            <a:srgbClr val="729FCF"/>
          </a:solidFill>
          <a:ln w="25402">
            <a:solidFill>
              <a:srgbClr val="3465AF"/>
            </a:solidFill>
            <a:prstDash val="solid"/>
          </a:ln>
        </p:spPr>
      </p:sp>
      <p:sp>
        <p:nvSpPr>
          <p:cNvPr id="3" name="Notes Placeholder 2"/>
          <p:cNvSpPr txBox="1">
            <a:spLocks noGrp="1"/>
          </p:cNvSpPr>
          <p:nvPr>
            <p:ph type="body" sz="quarter" idx="1"/>
          </p:nvPr>
        </p:nvSpPr>
        <p:spPr>
          <a:xfrm>
            <a:off x="900632" y="4724565"/>
            <a:ext cx="4959762" cy="4475033"/>
          </a:xfrm>
        </p:spPr>
        <p:txBody>
          <a:bodyPr/>
          <a:lstStyle/>
          <a:p>
            <a:endParaRPr lang="en-US"/>
          </a:p>
        </p:txBody>
      </p:sp>
    </p:spTree>
    <p:extLst>
      <p:ext uri="{BB962C8B-B14F-4D97-AF65-F5344CB8AC3E}">
        <p14:creationId xmlns:p14="http://schemas.microsoft.com/office/powerpoint/2010/main" val="2456942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761122" y="9304899"/>
            <a:ext cx="2875477" cy="4878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88546" tIns="46040" rIns="88546" bIns="46040" anchor="b" anchorCtr="0" compatLnSpc="0"/>
          <a:lstStyle/>
          <a:p>
            <a:pPr algn="r" defTabSz="899587">
              <a:defRPr sz="1800" b="0" i="0" u="none" strike="noStrike" kern="0" cap="none" spc="0" baseline="0">
                <a:solidFill>
                  <a:srgbClr val="000000"/>
                </a:solidFill>
                <a:uFillTx/>
              </a:defRPr>
            </a:pPr>
            <a:fld id="{1359336A-AA52-4AAC-AFF1-8CE812E6F825}" type="slidenum">
              <a:rPr/>
              <a:pPr algn="r" defTabSz="899587">
                <a:defRPr sz="1800" b="0" i="0" u="none" strike="noStrike" kern="0" cap="none" spc="0" baseline="0">
                  <a:solidFill>
                    <a:srgbClr val="000000"/>
                  </a:solidFill>
                  <a:uFillTx/>
                </a:defRPr>
              </a:pPr>
              <a:t>7</a:t>
            </a:fld>
            <a:endParaRPr lang="en-US" sz="1200" dirty="0">
              <a:solidFill>
                <a:srgbClr val="D6ECFF"/>
              </a:solidFill>
              <a:latin typeface="Liberation Serif" pitchFamily="18"/>
              <a:ea typeface="DejaVu Sans" pitchFamily="2"/>
              <a:cs typeface="DejaVu Sans" pitchFamily="2"/>
            </a:endParaRPr>
          </a:p>
        </p:txBody>
      </p:sp>
      <p:sp>
        <p:nvSpPr>
          <p:cNvPr id="3" name="Slide Image Placeholder 2"/>
          <p:cNvSpPr>
            <a:spLocks noGrp="1" noRot="1" noChangeAspect="1"/>
          </p:cNvSpPr>
          <p:nvPr>
            <p:ph type="sldImg"/>
          </p:nvPr>
        </p:nvSpPr>
        <p:spPr>
          <a:xfrm>
            <a:off x="55563" y="735013"/>
            <a:ext cx="6527800" cy="3673475"/>
          </a:xfrm>
          <a:solidFill>
            <a:srgbClr val="5B9BD5"/>
          </a:solidFill>
          <a:ln w="12701">
            <a:solidFill>
              <a:srgbClr val="41719C"/>
            </a:solidFill>
            <a:prstDash val="solid"/>
            <a:miter/>
          </a:ln>
        </p:spPr>
      </p:sp>
      <p:sp>
        <p:nvSpPr>
          <p:cNvPr id="4" name="TextBox 3"/>
          <p:cNvSpPr txBox="1"/>
          <p:nvPr/>
        </p:nvSpPr>
        <p:spPr>
          <a:xfrm>
            <a:off x="663975" y="4653218"/>
            <a:ext cx="5311793" cy="4408313"/>
          </a:xfrm>
          <a:prstGeom prst="rect">
            <a:avLst/>
          </a:prstGeom>
          <a:noFill/>
          <a:ln>
            <a:noFill/>
          </a:ln>
        </p:spPr>
        <p:txBody>
          <a:bodyPr vert="horz" wrap="none" lIns="88546" tIns="46040" rIns="88546" bIns="46040" anchor="ctr" anchorCtr="0" compatLnSpc="1"/>
          <a:lstStyle/>
          <a:p>
            <a:pPr defTabSz="899587" hangingPunct="0">
              <a:spcBef>
                <a:spcPts val="443"/>
              </a:spcBef>
              <a:tabLst>
                <a:tab pos="0" algn="l"/>
                <a:tab pos="899587" algn="l"/>
                <a:tab pos="1799173" algn="l"/>
                <a:tab pos="2698760" algn="l"/>
                <a:tab pos="3598347" algn="l"/>
                <a:tab pos="4497934" algn="l"/>
                <a:tab pos="5397520" algn="l"/>
                <a:tab pos="6297107" algn="l"/>
                <a:tab pos="7196694" algn="l"/>
                <a:tab pos="8096280" algn="l"/>
                <a:tab pos="8995867" algn="l"/>
                <a:tab pos="9895454" algn="l"/>
              </a:tabLst>
              <a:defRPr sz="1800" b="0" i="0" u="none" strike="noStrike" kern="0" cap="none" spc="0" baseline="0">
                <a:solidFill>
                  <a:srgbClr val="000000"/>
                </a:solidFill>
                <a:uFillTx/>
              </a:defRPr>
            </a:pPr>
            <a:endParaRPr lang="en-US" sz="1200" dirty="0">
              <a:solidFill>
                <a:srgbClr val="000000"/>
              </a:solidFill>
              <a:latin typeface="Times New Roman" pitchFamily="18"/>
              <a:ea typeface="WenQuanYi Zen Hei Sharp" pitchFamily="2"/>
              <a:cs typeface="Lohit Devanagari" pitchFamily="2"/>
            </a:endParaRPr>
          </a:p>
        </p:txBody>
      </p:sp>
      <p:sp>
        <p:nvSpPr>
          <p:cNvPr id="5" name="Notes Placeholder 4"/>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374946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761122" y="9304899"/>
            <a:ext cx="2875477" cy="487882"/>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88546" tIns="46040" rIns="88546" bIns="46040" anchor="b" anchorCtr="0" compatLnSpc="0"/>
          <a:lstStyle/>
          <a:p>
            <a:pPr algn="r" defTabSz="899587">
              <a:defRPr sz="1800" b="0" i="0" u="none" strike="noStrike" kern="0" cap="none" spc="0" baseline="0">
                <a:solidFill>
                  <a:srgbClr val="000000"/>
                </a:solidFill>
                <a:uFillTx/>
              </a:defRPr>
            </a:pPr>
            <a:fld id="{1359336A-AA52-4AAC-AFF1-8CE812E6F825}" type="slidenum">
              <a:rPr/>
              <a:pPr algn="r" defTabSz="899587">
                <a:defRPr sz="1800" b="0" i="0" u="none" strike="noStrike" kern="0" cap="none" spc="0" baseline="0">
                  <a:solidFill>
                    <a:srgbClr val="000000"/>
                  </a:solidFill>
                  <a:uFillTx/>
                </a:defRPr>
              </a:pPr>
              <a:t>8</a:t>
            </a:fld>
            <a:endParaRPr lang="en-US" sz="1200" dirty="0">
              <a:solidFill>
                <a:srgbClr val="D6ECFF"/>
              </a:solidFill>
              <a:latin typeface="Liberation Serif" pitchFamily="18"/>
              <a:ea typeface="DejaVu Sans" pitchFamily="2"/>
              <a:cs typeface="DejaVu Sans" pitchFamily="2"/>
            </a:endParaRPr>
          </a:p>
        </p:txBody>
      </p:sp>
      <p:sp>
        <p:nvSpPr>
          <p:cNvPr id="3" name="Slide Image Placeholder 2"/>
          <p:cNvSpPr>
            <a:spLocks noGrp="1" noRot="1" noChangeAspect="1"/>
          </p:cNvSpPr>
          <p:nvPr>
            <p:ph type="sldImg"/>
          </p:nvPr>
        </p:nvSpPr>
        <p:spPr>
          <a:xfrm>
            <a:off x="55563" y="735013"/>
            <a:ext cx="6527800" cy="3673475"/>
          </a:xfrm>
          <a:solidFill>
            <a:srgbClr val="5B9BD5"/>
          </a:solidFill>
          <a:ln w="12701">
            <a:solidFill>
              <a:srgbClr val="41719C"/>
            </a:solidFill>
            <a:prstDash val="solid"/>
            <a:miter/>
          </a:ln>
        </p:spPr>
      </p:sp>
      <p:sp>
        <p:nvSpPr>
          <p:cNvPr id="4" name="TextBox 3"/>
          <p:cNvSpPr txBox="1"/>
          <p:nvPr/>
        </p:nvSpPr>
        <p:spPr>
          <a:xfrm>
            <a:off x="663975" y="4653218"/>
            <a:ext cx="5311793" cy="4408313"/>
          </a:xfrm>
          <a:prstGeom prst="rect">
            <a:avLst/>
          </a:prstGeom>
          <a:noFill/>
          <a:ln>
            <a:noFill/>
          </a:ln>
        </p:spPr>
        <p:txBody>
          <a:bodyPr vert="horz" wrap="none" lIns="88546" tIns="46040" rIns="88546" bIns="46040" anchor="ctr" anchorCtr="0" compatLnSpc="1"/>
          <a:lstStyle/>
          <a:p>
            <a:pPr defTabSz="899587" hangingPunct="0">
              <a:spcBef>
                <a:spcPts val="443"/>
              </a:spcBef>
              <a:tabLst>
                <a:tab pos="0" algn="l"/>
                <a:tab pos="899587" algn="l"/>
                <a:tab pos="1799173" algn="l"/>
                <a:tab pos="2698760" algn="l"/>
                <a:tab pos="3598347" algn="l"/>
                <a:tab pos="4497934" algn="l"/>
                <a:tab pos="5397520" algn="l"/>
                <a:tab pos="6297107" algn="l"/>
                <a:tab pos="7196694" algn="l"/>
                <a:tab pos="8096280" algn="l"/>
                <a:tab pos="8995867" algn="l"/>
                <a:tab pos="9895454" algn="l"/>
              </a:tabLst>
              <a:defRPr sz="1800" b="0" i="0" u="none" strike="noStrike" kern="0" cap="none" spc="0" baseline="0">
                <a:solidFill>
                  <a:srgbClr val="000000"/>
                </a:solidFill>
                <a:uFillTx/>
              </a:defRPr>
            </a:pPr>
            <a:endParaRPr lang="en-US" sz="1200" dirty="0">
              <a:solidFill>
                <a:srgbClr val="000000"/>
              </a:solidFill>
              <a:latin typeface="Times New Roman" pitchFamily="18"/>
              <a:ea typeface="WenQuanYi Zen Hei Sharp" pitchFamily="2"/>
              <a:cs typeface="Lohit Devanagari" pitchFamily="2"/>
            </a:endParaRPr>
          </a:p>
        </p:txBody>
      </p:sp>
      <p:sp>
        <p:nvSpPr>
          <p:cNvPr id="5" name="Notes Placeholder 4"/>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386937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49300"/>
            <a:ext cx="6618288" cy="3724275"/>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971789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49300"/>
            <a:ext cx="6618288" cy="3724275"/>
          </a:xfrm>
          <a:solidFill>
            <a:srgbClr val="729FCF"/>
          </a:solidFill>
          <a:ln w="25402">
            <a:solidFill>
              <a:srgbClr val="3465AF"/>
            </a:solidFill>
            <a:prstDash val="solid"/>
          </a:ln>
        </p:spPr>
      </p:sp>
      <p:sp>
        <p:nvSpPr>
          <p:cNvPr id="3" name="Notes Placeholder 2"/>
          <p:cNvSpPr txBox="1">
            <a:spLocks noGrp="1"/>
          </p:cNvSpPr>
          <p:nvPr>
            <p:ph type="body" sz="quarter" idx="1"/>
          </p:nvPr>
        </p:nvSpPr>
        <p:spPr>
          <a:xfrm>
            <a:off x="900632" y="4724565"/>
            <a:ext cx="4959762" cy="4475033"/>
          </a:xfrm>
        </p:spPr>
        <p:txBody>
          <a:bodyPr/>
          <a:lstStyle/>
          <a:p>
            <a:endParaRPr lang="en-US"/>
          </a:p>
        </p:txBody>
      </p:sp>
    </p:spTree>
    <p:extLst>
      <p:ext uri="{BB962C8B-B14F-4D97-AF65-F5344CB8AC3E}">
        <p14:creationId xmlns:p14="http://schemas.microsoft.com/office/powerpoint/2010/main" val="584419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49300"/>
            <a:ext cx="6618288" cy="3724275"/>
          </a:xfrm>
          <a:solidFill>
            <a:srgbClr val="729FCF"/>
          </a:solidFill>
          <a:ln w="25402">
            <a:solidFill>
              <a:srgbClr val="3465AF"/>
            </a:solidFill>
            <a:prstDash val="solid"/>
          </a:ln>
        </p:spPr>
      </p:sp>
      <p:sp>
        <p:nvSpPr>
          <p:cNvPr id="3" name="Notes Placeholder 2"/>
          <p:cNvSpPr txBox="1">
            <a:spLocks noGrp="1"/>
          </p:cNvSpPr>
          <p:nvPr>
            <p:ph type="body" sz="quarter" idx="1"/>
          </p:nvPr>
        </p:nvSpPr>
        <p:spPr>
          <a:xfrm>
            <a:off x="900632" y="4724565"/>
            <a:ext cx="4959762" cy="4475033"/>
          </a:xfrm>
        </p:spPr>
        <p:txBody>
          <a:bodyPr/>
          <a:lstStyle/>
          <a:p>
            <a:endParaRPr lang="en-US"/>
          </a:p>
        </p:txBody>
      </p:sp>
    </p:spTree>
    <p:extLst>
      <p:ext uri="{BB962C8B-B14F-4D97-AF65-F5344CB8AC3E}">
        <p14:creationId xmlns:p14="http://schemas.microsoft.com/office/powerpoint/2010/main" val="3235957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2A701A-1820-4262-96E9-DA70390A9F52}"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62038-0B2A-48C5-833B-C72D8836AD3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2A701A-1820-4262-96E9-DA70390A9F52}" type="datetimeFigureOut">
              <a:rPr lang="en-US" smtClean="0"/>
              <a:pPr/>
              <a:t>10/14/2026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62038-0B2A-48C5-833B-C72D8836AD3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abs/2209.06049?utm_source=gemini"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google.com/search?q=https://aclanthology.org/W19-2212/&amp;utm_source=gemini" TargetMode="External"/><Relationship Id="rId5" Type="http://schemas.openxmlformats.org/officeDocument/2006/relationships/hyperlink" Target="https://arxiv.org/abs/2211.03442?utm_source=gemini" TargetMode="External"/><Relationship Id="rId4" Type="http://schemas.openxmlformats.org/officeDocument/2006/relationships/hyperlink" Target="https://aclanthology.org/2021.acl-long.313/?utm_source=gemini"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abs/1908.10084?utm_source=gemini" TargetMode="External"/><Relationship Id="rId2" Type="http://schemas.openxmlformats.org/officeDocument/2006/relationships/hyperlink" Target="https://arxiv.org/abs/2005.11401?utm_source=gemini" TargetMode="External"/><Relationship Id="rId1" Type="http://schemas.openxmlformats.org/officeDocument/2006/relationships/slideLayout" Target="../slideLayouts/slideLayout2.xml"/><Relationship Id="rId5" Type="http://schemas.openxmlformats.org/officeDocument/2006/relationships/hyperlink" Target="https://arxiv.org/abs/2010.02559?utm_source=gemini" TargetMode="External"/><Relationship Id="rId4" Type="http://schemas.openxmlformats.org/officeDocument/2006/relationships/hyperlink" Target="https://arxiv.org/abs/2311.12599?utm_source=gemini"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arxiv.org/abs/2308.08155?utm_source=gemini" TargetMode="External"/><Relationship Id="rId2" Type="http://schemas.openxmlformats.org/officeDocument/2006/relationships/hyperlink" Target="https://arxiv.org/abs/2307.02017?utm_source=gemini" TargetMode="External"/><Relationship Id="rId1" Type="http://schemas.openxmlformats.org/officeDocument/2006/relationships/slideLayout" Target="../slideLayouts/slideLayout2.xml"/><Relationship Id="rId5" Type="http://schemas.openxmlformats.org/officeDocument/2006/relationships/hyperlink" Target="https://arxiv.org/abs/2309.16289?utm_source=gemini" TargetMode="External"/><Relationship Id="rId4" Type="http://schemas.openxmlformats.org/officeDocument/2006/relationships/hyperlink" Target="https://arxiv.org/abs/2308.11462?utm_source=gemini"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arxiv.org/abs/2004.12158?utm_source=gemini" TargetMode="External"/><Relationship Id="rId2" Type="http://schemas.openxmlformats.org/officeDocument/2006/relationships/hyperlink" Target="https://ieeexplore.ieee.org/document/4376991?utm_source=gemini" TargetMode="External"/><Relationship Id="rId1" Type="http://schemas.openxmlformats.org/officeDocument/2006/relationships/slideLayout" Target="../slideLayouts/slideLayout2.xml"/><Relationship Id="rId4" Type="http://schemas.openxmlformats.org/officeDocument/2006/relationships/hyperlink" Target="https://arxiv.org/abs/2110.00976?utm_source=gemini"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1108052" y="1486796"/>
            <a:ext cx="9865096" cy="2856604"/>
          </a:xfrm>
        </p:spPr>
        <p:txBody>
          <a:bodyPr vert="horz" lIns="92162" tIns="46076" rIns="92162" bIns="46076" rtlCol="0" anchor="ctr" anchorCtr="1">
            <a:normAutofit fontScale="90000"/>
          </a:bodyPr>
          <a:lstStyle/>
          <a:p>
            <a:br>
              <a:rPr lang="en-US" sz="2200" dirty="0">
                <a:solidFill>
                  <a:srgbClr val="0066CC"/>
                </a:solidFill>
                <a:effectLst>
                  <a:outerShdw dist="17962" dir="2700000">
                    <a:srgbClr val="000000"/>
                  </a:outerShdw>
                </a:effectLst>
                <a:latin typeface="Times New Roman" pitchFamily="18" charset="0"/>
                <a:cs typeface="Times New Roman" pitchFamily="18" charset="0"/>
              </a:rPr>
            </a:br>
            <a:br>
              <a:rPr lang="en-US" sz="2200" dirty="0">
                <a:solidFill>
                  <a:srgbClr val="0066CC"/>
                </a:solidFill>
                <a:effectLst>
                  <a:outerShdw dist="17962" dir="2700000">
                    <a:srgbClr val="000000"/>
                  </a:outerShdw>
                </a:effectLst>
                <a:latin typeface="Times New Roman" pitchFamily="18" charset="0"/>
                <a:cs typeface="Times New Roman" pitchFamily="18" charset="0"/>
              </a:rPr>
            </a:br>
            <a:br>
              <a:rPr lang="en-US" sz="2200" dirty="0">
                <a:solidFill>
                  <a:srgbClr val="0066CC"/>
                </a:solidFill>
                <a:effectLst>
                  <a:outerShdw dist="17962" dir="2700000">
                    <a:srgbClr val="000000"/>
                  </a:outerShdw>
                </a:effectLst>
                <a:latin typeface="Times New Roman" pitchFamily="18" charset="0"/>
                <a:cs typeface="Times New Roman" pitchFamily="18" charset="0"/>
              </a:rPr>
            </a:br>
            <a:br>
              <a:rPr lang="en-US" sz="2200" dirty="0">
                <a:solidFill>
                  <a:srgbClr val="0066CC"/>
                </a:solidFill>
                <a:effectLst>
                  <a:outerShdw dist="17962" dir="2700000">
                    <a:srgbClr val="000000"/>
                  </a:outerShdw>
                </a:effectLst>
                <a:latin typeface="Times New Roman" pitchFamily="18" charset="0"/>
                <a:cs typeface="Times New Roman" pitchFamily="18" charset="0"/>
              </a:rPr>
            </a:br>
            <a:r>
              <a:rPr lang="en-US" sz="2800" dirty="0">
                <a:solidFill>
                  <a:srgbClr val="0066CC"/>
                </a:solidFill>
                <a:effectLst>
                  <a:outerShdw dist="17962" dir="2700000">
                    <a:srgbClr val="000000"/>
                  </a:outerShdw>
                </a:effectLst>
                <a:latin typeface="Times New Roman" pitchFamily="18" charset="0"/>
                <a:cs typeface="Times New Roman" pitchFamily="18" charset="0"/>
              </a:rPr>
              <a:t>Project Stage-I  Presentation</a:t>
            </a:r>
            <a:br>
              <a:rPr lang="en-US" sz="2800" dirty="0">
                <a:solidFill>
                  <a:srgbClr val="0066CC"/>
                </a:solidFill>
                <a:effectLst>
                  <a:outerShdw dist="17962" dir="2700000">
                    <a:srgbClr val="000000"/>
                  </a:outerShdw>
                </a:effectLst>
                <a:latin typeface="Times New Roman" pitchFamily="18" charset="0"/>
                <a:cs typeface="Times New Roman" pitchFamily="18" charset="0"/>
              </a:rPr>
            </a:br>
            <a:r>
              <a:rPr lang="en-US" sz="2800" dirty="0">
                <a:solidFill>
                  <a:srgbClr val="0066CC"/>
                </a:solidFill>
                <a:effectLst>
                  <a:outerShdw dist="17962" dir="2700000">
                    <a:srgbClr val="000000"/>
                  </a:outerShdw>
                </a:effectLst>
                <a:latin typeface="Times New Roman" pitchFamily="18" charset="0"/>
                <a:cs typeface="Times New Roman" pitchFamily="18" charset="0"/>
              </a:rPr>
              <a:t> on</a:t>
            </a:r>
            <a:br>
              <a:rPr lang="en-US" sz="2200" b="1" dirty="0">
                <a:solidFill>
                  <a:srgbClr val="0066CC"/>
                </a:solidFill>
                <a:effectLst>
                  <a:outerShdw dist="17962" dir="2700000">
                    <a:srgbClr val="000000"/>
                  </a:outerShdw>
                </a:effectLst>
                <a:latin typeface="Times New Roman" pitchFamily="18" charset="0"/>
                <a:cs typeface="Times New Roman" pitchFamily="18" charset="0"/>
              </a:rPr>
            </a:br>
            <a:br>
              <a:rPr lang="en-US" sz="2800" b="1" dirty="0">
                <a:solidFill>
                  <a:srgbClr val="0066CC"/>
                </a:solidFill>
                <a:effectLst>
                  <a:outerShdw dist="17962" dir="2700000">
                    <a:srgbClr val="000000"/>
                  </a:outerShdw>
                </a:effectLst>
                <a:latin typeface="Arial Narrow" pitchFamily="34"/>
              </a:rPr>
            </a:br>
            <a:r>
              <a:rPr lang="en-US" sz="2800" b="1" dirty="0">
                <a:solidFill>
                  <a:srgbClr val="FF0000"/>
                </a:solidFill>
                <a:effectLst>
                  <a:outerShdw dist="17962" dir="2700000">
                    <a:srgbClr val="000000"/>
                  </a:outerShdw>
                </a:effectLst>
                <a:latin typeface="Arial Narrow" pitchFamily="34"/>
              </a:rPr>
              <a:t>Nyaya AI </a:t>
            </a:r>
          </a:p>
        </p:txBody>
      </p:sp>
      <p:sp>
        <p:nvSpPr>
          <p:cNvPr id="3" name="Subtitle 2"/>
          <p:cNvSpPr/>
          <p:nvPr/>
        </p:nvSpPr>
        <p:spPr>
          <a:xfrm>
            <a:off x="277062" y="4419601"/>
            <a:ext cx="4447337" cy="2205128"/>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90004" tIns="46798" rIns="90004" bIns="46798" anchor="t" anchorCtr="0" compatLnSpc="1"/>
          <a:lstStyle/>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400" b="1" dirty="0">
                <a:solidFill>
                  <a:schemeClr val="tx2"/>
                </a:solidFill>
                <a:latin typeface="Times New Roman" pitchFamily="18" charset="0"/>
                <a:ea typeface="WenQuanYi Zen Hei Sharp" pitchFamily="2"/>
                <a:cs typeface="Times New Roman" pitchFamily="18" charset="0"/>
              </a:rPr>
              <a:t>Guided by</a:t>
            </a:r>
            <a:br>
              <a:rPr lang="en-US" sz="2400" b="1" dirty="0">
                <a:solidFill>
                  <a:schemeClr val="tx2"/>
                </a:solidFill>
                <a:latin typeface="Times New Roman" pitchFamily="18" charset="0"/>
                <a:ea typeface="WenQuanYi Zen Hei Sharp" pitchFamily="2"/>
                <a:cs typeface="Times New Roman" pitchFamily="18" charset="0"/>
              </a:rPr>
            </a:br>
            <a:r>
              <a:rPr lang="en-US" sz="2400" b="1" dirty="0">
                <a:solidFill>
                  <a:schemeClr val="tx2"/>
                </a:solidFill>
                <a:latin typeface="Times New Roman" pitchFamily="18" charset="0"/>
                <a:ea typeface="WenQuanYi Zen Hei Sharp" pitchFamily="2"/>
                <a:cs typeface="Times New Roman" pitchFamily="18" charset="0"/>
              </a:rPr>
              <a:t>Prof. Pooja </a:t>
            </a:r>
            <a:r>
              <a:rPr lang="en-US" sz="2400" b="1" dirty="0" err="1">
                <a:solidFill>
                  <a:schemeClr val="tx2"/>
                </a:solidFill>
                <a:latin typeface="Times New Roman" pitchFamily="18" charset="0"/>
                <a:ea typeface="WenQuanYi Zen Hei Sharp" pitchFamily="2"/>
                <a:cs typeface="Times New Roman" pitchFamily="18" charset="0"/>
              </a:rPr>
              <a:t>Dehankar</a:t>
            </a:r>
            <a:endParaRPr lang="en-US" sz="2400" b="1" dirty="0">
              <a:solidFill>
                <a:schemeClr val="tx2"/>
              </a:solidFill>
              <a:latin typeface="Times New Roman" pitchFamily="18" charset="0"/>
              <a:ea typeface="WenQuanYi Zen Hei Sharp" pitchFamily="2"/>
              <a:cs typeface="Times New Roman" pitchFamily="18" charset="0"/>
            </a:endParaRPr>
          </a:p>
        </p:txBody>
      </p:sp>
      <p:sp>
        <p:nvSpPr>
          <p:cNvPr id="4" name="Subtitle 2"/>
          <p:cNvSpPr/>
          <p:nvPr/>
        </p:nvSpPr>
        <p:spPr>
          <a:xfrm>
            <a:off x="7848601" y="4572000"/>
            <a:ext cx="3714806" cy="2052727"/>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90004" tIns="46798" rIns="90004" bIns="46798" anchor="t" anchorCtr="0" compatLnSpc="1"/>
          <a:lstStyle/>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400" b="1" dirty="0">
                <a:solidFill>
                  <a:schemeClr val="tx2"/>
                </a:solidFill>
                <a:latin typeface="Times New Roman" pitchFamily="18" charset="0"/>
                <a:ea typeface="WenQuanYi Zen Hei Sharp" pitchFamily="2"/>
                <a:cs typeface="Times New Roman" pitchFamily="18" charset="0"/>
              </a:rPr>
              <a:t>Presented by:</a:t>
            </a:r>
          </a:p>
          <a:p>
            <a:r>
              <a:rPr lang="en-US" sz="2000" dirty="0">
                <a:latin typeface="Times New Roman" panose="02020603050405020304" pitchFamily="18" charset="0"/>
                <a:cs typeface="Times New Roman" panose="02020603050405020304" pitchFamily="18" charset="0"/>
              </a:rPr>
              <a:t>Members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1 Pranit Tupe (Team Lead)</a:t>
            </a:r>
          </a:p>
          <a:p>
            <a:r>
              <a:rPr lang="en-US" sz="2000" dirty="0">
                <a:latin typeface="Times New Roman" panose="02020603050405020304" pitchFamily="18" charset="0"/>
                <a:cs typeface="Times New Roman" panose="02020603050405020304" pitchFamily="18" charset="0"/>
              </a:rPr>
              <a:t>2 Omkar </a:t>
            </a:r>
            <a:r>
              <a:rPr lang="en-US" sz="2000" dirty="0" err="1">
                <a:latin typeface="Times New Roman" panose="02020603050405020304" pitchFamily="18" charset="0"/>
                <a:cs typeface="Times New Roman" panose="02020603050405020304" pitchFamily="18" charset="0"/>
              </a:rPr>
              <a:t>Tilekar</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3 Raj </a:t>
            </a:r>
            <a:r>
              <a:rPr lang="en-US" sz="2000" dirty="0" err="1">
                <a:latin typeface="Times New Roman" panose="02020603050405020304" pitchFamily="18" charset="0"/>
                <a:cs typeface="Times New Roman" panose="02020603050405020304" pitchFamily="18" charset="0"/>
              </a:rPr>
              <a:t>Yeole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4 Yash Limbhore</a:t>
            </a:r>
          </a:p>
          <a:p>
            <a:pPr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US" sz="2400" b="1" dirty="0">
              <a:solidFill>
                <a:srgbClr val="009999"/>
              </a:solidFill>
              <a:latin typeface="Times New Roman" pitchFamily="18" charset="0"/>
              <a:ea typeface="Times New Roman" pitchFamily="18"/>
              <a:cs typeface="Times New Roman" pitchFamily="18" charset="0"/>
            </a:endParaRPr>
          </a:p>
        </p:txBody>
      </p:sp>
      <p:pic>
        <p:nvPicPr>
          <p:cNvPr id="5" name="Picture 4"/>
          <p:cNvPicPr>
            <a:picLocks noChangeAspect="1"/>
          </p:cNvPicPr>
          <p:nvPr/>
        </p:nvPicPr>
        <p:blipFill>
          <a:blip r:embed="rId3" cstate="print">
            <a:alphaModFix/>
            <a:lum/>
          </a:blip>
          <a:srcRect/>
          <a:stretch>
            <a:fillRect/>
          </a:stretch>
        </p:blipFill>
        <p:spPr>
          <a:xfrm>
            <a:off x="152400" y="286289"/>
            <a:ext cx="1514904" cy="1572146"/>
          </a:xfrm>
          <a:prstGeom prst="rect">
            <a:avLst/>
          </a:prstGeom>
          <a:noFill/>
          <a:ln>
            <a:noFill/>
          </a:ln>
        </p:spPr>
      </p:pic>
      <p:sp>
        <p:nvSpPr>
          <p:cNvPr id="6" name="Rectangle 7"/>
          <p:cNvSpPr/>
          <p:nvPr/>
        </p:nvSpPr>
        <p:spPr>
          <a:xfrm>
            <a:off x="1524000" y="271049"/>
            <a:ext cx="10363200" cy="2125835"/>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90004" tIns="46798" rIns="90004" bIns="46798" anchor="t" anchorCtr="1" compatLnSpc="1">
            <a:spAutoFit/>
          </a:bodyPr>
          <a:lstStyle/>
          <a:p>
            <a:pPr algn="ctr"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3600" b="1" dirty="0">
                <a:solidFill>
                  <a:schemeClr val="tx2"/>
                </a:solidFill>
                <a:latin typeface="Times New Roman" pitchFamily="18"/>
                <a:ea typeface="Times New Roman" pitchFamily="18"/>
                <a:cs typeface="Times New Roman" pitchFamily="18"/>
              </a:rPr>
              <a:t>Ajeenkya DY Patil School of Engineering, Pune</a:t>
            </a:r>
          </a:p>
          <a:p>
            <a:pPr algn="ctr"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000" dirty="0">
                <a:latin typeface="Times New Roman" panose="02020603050405020304" pitchFamily="18" charset="0"/>
                <a:cs typeface="Times New Roman" panose="02020603050405020304" pitchFamily="18" charset="0"/>
              </a:rPr>
              <a:t>Imparting quality education in the field of Artificial Intelligence and Data Science</a:t>
            </a:r>
            <a:endParaRPr lang="en-US" sz="3600" dirty="0">
              <a:latin typeface="Times New Roman" panose="02020603050405020304" pitchFamily="18" charset="0"/>
              <a:cs typeface="Times New Roman" panose="02020603050405020304" pitchFamily="18" charset="0"/>
            </a:endParaRPr>
          </a:p>
          <a:p>
            <a:pPr algn="ctr"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800" b="1" dirty="0">
                <a:solidFill>
                  <a:srgbClr val="C00000"/>
                </a:solidFill>
                <a:latin typeface="Times New Roman" pitchFamily="18"/>
                <a:ea typeface="Times New Roman" pitchFamily="18"/>
                <a:cs typeface="Times New Roman" pitchFamily="18"/>
              </a:rPr>
              <a:t>Department of Artificial Intelligence &amp; Data Science Engineering</a:t>
            </a:r>
          </a:p>
          <a:p>
            <a:pPr algn="ctr"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endParaRPr lang="en-US" sz="2400" b="1" dirty="0">
              <a:solidFill>
                <a:srgbClr val="C00000"/>
              </a:solidFill>
              <a:latin typeface="Times New Roman" pitchFamily="18"/>
              <a:ea typeface="Times New Roman" pitchFamily="18"/>
              <a:cs typeface="Times New Roman" pitchFamily="18"/>
            </a:endParaRPr>
          </a:p>
          <a:p>
            <a:pPr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US" sz="2400" b="1" dirty="0">
                <a:solidFill>
                  <a:srgbClr val="C00000"/>
                </a:solidFill>
                <a:latin typeface="Times New Roman" pitchFamily="18"/>
                <a:ea typeface="Times New Roman" pitchFamily="18"/>
                <a:cs typeface="Times New Roman" pitchFamily="18"/>
              </a:rPr>
              <a:t>AY: 2026-27 			 </a:t>
            </a:r>
            <a:r>
              <a:rPr lang="en-US" sz="2400" b="1" dirty="0">
                <a:latin typeface="Times New Roman" panose="02020603050405020304" pitchFamily="18" charset="0"/>
                <a:cs typeface="Times New Roman" panose="02020603050405020304" pitchFamily="18" charset="0"/>
              </a:rPr>
              <a:t>Group ID- 		   </a:t>
            </a:r>
            <a:r>
              <a:rPr lang="en-US" sz="2400" b="1" dirty="0">
                <a:solidFill>
                  <a:srgbClr val="C00000"/>
                </a:solidFill>
                <a:latin typeface="Times New Roman" pitchFamily="18"/>
                <a:ea typeface="Times New Roman" pitchFamily="18"/>
                <a:cs typeface="Times New Roman" pitchFamily="18"/>
              </a:rPr>
              <a:t>Class: BE SEM-I</a:t>
            </a:r>
          </a:p>
        </p:txBody>
      </p:sp>
      <p:sp>
        <p:nvSpPr>
          <p:cNvPr id="10" name="Slide Number Placeholder 9"/>
          <p:cNvSpPr>
            <a:spLocks noGrp="1"/>
          </p:cNvSpPr>
          <p:nvPr>
            <p:ph type="sldNum" sz="quarter" idx="4294967295"/>
          </p:nvPr>
        </p:nvSpPr>
        <p:spPr>
          <a:xfrm>
            <a:off x="9840416" y="6256093"/>
            <a:ext cx="2057400" cy="365129"/>
          </a:xfrm>
          <a:prstGeom prst="rect">
            <a:avLst/>
          </a:prstGeom>
        </p:spPr>
        <p:txBody>
          <a:bodyPr/>
          <a:lstStyle/>
          <a:p>
            <a:pPr lvl="0"/>
            <a:fld id="{041546D6-25D2-4E08-B705-3CDDCADBC19E}" type="slidenum">
              <a:rPr lang="en-US" smtClean="0"/>
              <a:pPr lvl="0"/>
              <a:t>1</a:t>
            </a:fld>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685800"/>
            <a:ext cx="11582400" cy="6401753"/>
          </a:xfrm>
          <a:prstGeom prst="rect">
            <a:avLst/>
          </a:prstGeom>
          <a:noFill/>
        </p:spPr>
        <p:txBody>
          <a:bodyPr wrap="square" rtlCol="0">
            <a:spAutoFit/>
          </a:bodyPr>
          <a:lstStyle/>
          <a:p>
            <a:pPr algn="ctr"/>
            <a:r>
              <a:rPr lang="en-US" sz="2400" dirty="0">
                <a:solidFill>
                  <a:srgbClr val="FF0000"/>
                </a:solidFill>
                <a:latin typeface="Times New Roman" panose="02020603050405020304" pitchFamily="18" charset="0"/>
                <a:cs typeface="Times New Roman" panose="02020603050405020304" pitchFamily="18" charset="0"/>
              </a:rPr>
              <a:t>Department Vision</a:t>
            </a:r>
          </a:p>
          <a:p>
            <a:pPr algn="ctr"/>
            <a:r>
              <a:rPr lang="en-US" sz="2200" dirty="0">
                <a:latin typeface="Times New Roman" panose="02020603050405020304" pitchFamily="18" charset="0"/>
                <a:cs typeface="Times New Roman" panose="02020603050405020304" pitchFamily="18" charset="0"/>
              </a:rPr>
              <a:t>Imparting quality education in the field of Artificial Intelligence and Data Science.</a:t>
            </a:r>
          </a:p>
          <a:p>
            <a:pPr algn="ctr"/>
            <a:endParaRPr lang="en-US" sz="2200" dirty="0">
              <a:latin typeface="Times New Roman" panose="02020603050405020304" pitchFamily="18" charset="0"/>
              <a:cs typeface="Times New Roman" panose="02020603050405020304" pitchFamily="18" charset="0"/>
            </a:endParaRPr>
          </a:p>
          <a:p>
            <a:pPr algn="ctr"/>
            <a:r>
              <a:rPr lang="en-US" sz="2400" dirty="0">
                <a:solidFill>
                  <a:srgbClr val="FF0000"/>
                </a:solidFill>
                <a:latin typeface="Times New Roman" panose="02020603050405020304" pitchFamily="18" charset="0"/>
                <a:cs typeface="Times New Roman" panose="02020603050405020304" pitchFamily="18" charset="0"/>
              </a:rPr>
              <a:t>Department Mission</a:t>
            </a:r>
          </a:p>
          <a:p>
            <a:r>
              <a:rPr lang="en-US" sz="24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To include the culture of R and D to meet the future challenges in AI and DS.</a:t>
            </a:r>
          </a:p>
          <a:p>
            <a:r>
              <a:rPr lang="en-US" sz="2200" dirty="0">
                <a:latin typeface="Times New Roman" panose="02020603050405020304" pitchFamily="18" charset="0"/>
                <a:cs typeface="Times New Roman" panose="02020603050405020304" pitchFamily="18" charset="0"/>
              </a:rPr>
              <a:t>	To develop technical skills among students for building intelligent systems to solve problems.</a:t>
            </a:r>
          </a:p>
          <a:p>
            <a:r>
              <a:rPr lang="en-US" sz="2200" dirty="0">
                <a:latin typeface="Times New Roman" panose="02020603050405020304" pitchFamily="18" charset="0"/>
                <a:cs typeface="Times New Roman" panose="02020603050405020304" pitchFamily="18" charset="0"/>
              </a:rPr>
              <a:t>	To develop entrepreneurship skills in various areas among the students.</a:t>
            </a:r>
          </a:p>
          <a:p>
            <a:r>
              <a:rPr lang="en-US" sz="2200" dirty="0">
                <a:latin typeface="Times New Roman" panose="02020603050405020304" pitchFamily="18" charset="0"/>
                <a:cs typeface="Times New Roman" panose="02020603050405020304" pitchFamily="18" charset="0"/>
              </a:rPr>
              <a:t>	To include moral, social and ethical values to make students best citizens of country.</a:t>
            </a:r>
          </a:p>
          <a:p>
            <a:endParaRPr lang="en-US" sz="2200" dirty="0">
              <a:latin typeface="Times New Roman" panose="02020603050405020304" pitchFamily="18" charset="0"/>
              <a:cs typeface="Times New Roman" panose="02020603050405020304" pitchFamily="18" charset="0"/>
            </a:endParaRPr>
          </a:p>
          <a:p>
            <a:pPr algn="ctr"/>
            <a:r>
              <a:rPr lang="en-US" sz="2400" dirty="0">
                <a:solidFill>
                  <a:srgbClr val="7030A0"/>
                </a:solidFill>
                <a:latin typeface="Times New Roman" panose="02020603050405020304" pitchFamily="18" charset="0"/>
                <a:cs typeface="Times New Roman" panose="02020603050405020304" pitchFamily="18" charset="0"/>
              </a:rPr>
              <a:t>Institute Vision</a:t>
            </a:r>
          </a:p>
          <a:p>
            <a:pPr algn="ctr"/>
            <a:r>
              <a:rPr lang="en-US" sz="2200" dirty="0">
                <a:latin typeface="Times New Roman" panose="02020603050405020304" pitchFamily="18" charset="0"/>
                <a:cs typeface="Times New Roman" panose="02020603050405020304" pitchFamily="18" charset="0"/>
              </a:rPr>
              <a:t>Empowerment through quality technical education.</a:t>
            </a:r>
          </a:p>
          <a:p>
            <a:pPr algn="ctr"/>
            <a:endParaRPr lang="en-US" sz="2200" dirty="0">
              <a:latin typeface="Times New Roman" panose="02020603050405020304" pitchFamily="18" charset="0"/>
              <a:cs typeface="Times New Roman" panose="02020603050405020304" pitchFamily="18" charset="0"/>
            </a:endParaRPr>
          </a:p>
          <a:p>
            <a:pPr algn="ctr"/>
            <a:r>
              <a:rPr lang="en-US" sz="2400" dirty="0">
                <a:solidFill>
                  <a:srgbClr val="7030A0"/>
                </a:solidFill>
                <a:latin typeface="Times New Roman" panose="02020603050405020304" pitchFamily="18" charset="0"/>
                <a:cs typeface="Times New Roman" panose="02020603050405020304" pitchFamily="18" charset="0"/>
              </a:rPr>
              <a:t>Institute Mission</a:t>
            </a:r>
          </a:p>
          <a:p>
            <a:r>
              <a:rPr lang="en-US" sz="24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To excel as a center of excellence in technical education.</a:t>
            </a:r>
            <a:endParaRPr lang="en-US" sz="2200" b="1"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To impart skill-based education to meet the needs of industry and society.</a:t>
            </a:r>
            <a:endParaRPr lang="en-US" sz="2200" b="1"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To achieve excellence in teaching, learning and research.</a:t>
            </a:r>
          </a:p>
          <a:p>
            <a:r>
              <a:rPr lang="en-US" sz="2200" dirty="0">
                <a:latin typeface="Times New Roman" panose="02020603050405020304" pitchFamily="18" charset="0"/>
                <a:cs typeface="Times New Roman" panose="02020603050405020304" pitchFamily="18" charset="0"/>
              </a:rPr>
              <a:t>	To inculcate social and ethical values among the students.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489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1524000" y="76200"/>
            <a:ext cx="9144000" cy="685800"/>
          </a:xfrm>
        </p:spPr>
        <p:txBody>
          <a:bodyPr vert="horz" lIns="92162" tIns="46076" rIns="92162" bIns="46076" rtlCol="0" anchor="ctr">
            <a:normAutofit/>
          </a:bodyPr>
          <a:lstStyle/>
          <a:p>
            <a:pPr>
              <a:lnSpc>
                <a:spcPct val="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1" dirty="0">
                <a:solidFill>
                  <a:srgbClr val="0066CC"/>
                </a:solidFill>
                <a:effectLst>
                  <a:outerShdw dist="17962" dir="2700000">
                    <a:srgbClr val="000000"/>
                  </a:outerShdw>
                </a:effectLst>
                <a:latin typeface="Arial Narrow" pitchFamily="34"/>
              </a:rPr>
              <a:t>Flow of Presentation</a:t>
            </a:r>
            <a:endParaRPr lang="en-US" sz="3600" b="1" dirty="0">
              <a:solidFill>
                <a:srgbClr val="336699"/>
              </a:solidFill>
              <a:effectLst>
                <a:outerShdw dist="17962" dir="2700000">
                  <a:srgbClr val="000000"/>
                </a:outerShdw>
              </a:effectLst>
              <a:latin typeface="Arial Narrow" pitchFamily="34"/>
            </a:endParaRPr>
          </a:p>
        </p:txBody>
      </p:sp>
      <p:sp>
        <p:nvSpPr>
          <p:cNvPr id="3" name="Text Placeholder 2"/>
          <p:cNvSpPr txBox="1">
            <a:spLocks noGrp="1"/>
          </p:cNvSpPr>
          <p:nvPr>
            <p:ph type="body" idx="4294967295"/>
          </p:nvPr>
        </p:nvSpPr>
        <p:spPr>
          <a:xfrm>
            <a:off x="1127448" y="990600"/>
            <a:ext cx="9540552" cy="5334000"/>
          </a:xfrm>
        </p:spPr>
        <p:txBody>
          <a:bodyPr vert="horz" lIns="92162" tIns="46076" rIns="92162" bIns="46076" rtlCol="0">
            <a:normAutofit/>
          </a:bodyPr>
          <a:lstStyle/>
          <a:p>
            <a:pPr marL="0" indent="0">
              <a:spcBef>
                <a:spcPts val="695"/>
              </a:spcBef>
              <a:buClr>
                <a:srgbClr val="FF9966"/>
              </a:buClr>
              <a:buSzPct val="50000"/>
              <a:buFont typeface="Wingdings" pitchFamily="2" charset="2"/>
              <a:buChar char="v"/>
              <a:tabLst>
                <a:tab pos="571317" algn="l"/>
                <a:tab pos="1485717" algn="l"/>
                <a:tab pos="2400117" algn="l"/>
                <a:tab pos="3314517" algn="l"/>
                <a:tab pos="4228917" algn="l"/>
                <a:tab pos="5143317" algn="l"/>
                <a:tab pos="6057717" algn="l"/>
                <a:tab pos="6972117" algn="l"/>
                <a:tab pos="7886517" algn="l"/>
                <a:tab pos="8800917" algn="l"/>
                <a:tab pos="9715317" algn="l"/>
              </a:tabLst>
            </a:pPr>
            <a:r>
              <a:rPr lang="en-US" b="1" dirty="0">
                <a:solidFill>
                  <a:schemeClr val="tx1"/>
                </a:solidFill>
                <a:latin typeface="Arial" pitchFamily="34"/>
                <a:cs typeface="Times New Roman" pitchFamily="18"/>
              </a:rPr>
              <a:t> </a:t>
            </a:r>
            <a:r>
              <a:rPr lang="en-US" sz="2800" b="1" dirty="0">
                <a:latin typeface="Times New Roman" pitchFamily="18" charset="0"/>
                <a:cs typeface="Times New Roman" pitchFamily="18" charset="0"/>
              </a:rPr>
              <a:t>Abstract</a:t>
            </a:r>
          </a:p>
          <a:p>
            <a:pPr marL="0" indent="0">
              <a:spcBef>
                <a:spcPts val="695"/>
              </a:spcBef>
              <a:buClr>
                <a:srgbClr val="FF9966"/>
              </a:buClr>
              <a:buSzPct val="50000"/>
              <a:buFont typeface="Wingdings" pitchFamily="2" charset="2"/>
              <a:buChar char="v"/>
              <a:tabLst>
                <a:tab pos="571317" algn="l"/>
                <a:tab pos="1485717" algn="l"/>
                <a:tab pos="2400117" algn="l"/>
                <a:tab pos="3314517" algn="l"/>
                <a:tab pos="4228917" algn="l"/>
                <a:tab pos="5143317" algn="l"/>
                <a:tab pos="6057717" algn="l"/>
                <a:tab pos="6972117" algn="l"/>
                <a:tab pos="7886517" algn="l"/>
                <a:tab pos="8800917" algn="l"/>
                <a:tab pos="9715317" algn="l"/>
              </a:tabLst>
            </a:pPr>
            <a:r>
              <a:rPr lang="en-US" b="1" dirty="0">
                <a:solidFill>
                  <a:schemeClr val="tx1"/>
                </a:solidFill>
                <a:latin typeface="Arial" pitchFamily="34"/>
                <a:cs typeface="Times New Roman" pitchFamily="18"/>
              </a:rPr>
              <a:t> </a:t>
            </a:r>
            <a:r>
              <a:rPr lang="en-US" sz="2800" b="1" dirty="0">
                <a:latin typeface="Times New Roman" pitchFamily="18" charset="0"/>
                <a:cs typeface="Times New Roman" pitchFamily="18" charset="0"/>
              </a:rPr>
              <a:t>Introduction</a:t>
            </a:r>
          </a:p>
          <a:p>
            <a:pPr marL="0" indent="0">
              <a:spcBef>
                <a:spcPts val="695"/>
              </a:spcBef>
              <a:buClr>
                <a:srgbClr val="FF9966"/>
              </a:buClr>
              <a:buSzPct val="50000"/>
              <a:buFont typeface="Wingdings" pitchFamily="2" charset="2"/>
              <a:buChar char="v"/>
              <a:tabLst>
                <a:tab pos="571317" algn="l"/>
                <a:tab pos="1485717" algn="l"/>
                <a:tab pos="2400117" algn="l"/>
                <a:tab pos="3314517" algn="l"/>
                <a:tab pos="4228917" algn="l"/>
                <a:tab pos="5143317" algn="l"/>
                <a:tab pos="6057717" algn="l"/>
                <a:tab pos="6972117" algn="l"/>
                <a:tab pos="7886517" algn="l"/>
                <a:tab pos="8800917" algn="l"/>
                <a:tab pos="9715317" algn="l"/>
              </a:tabLst>
            </a:pPr>
            <a:r>
              <a:rPr lang="en-US" sz="2800" b="1" dirty="0">
                <a:latin typeface="Times New Roman" pitchFamily="18" charset="0"/>
                <a:cs typeface="Times New Roman" pitchFamily="18" charset="0"/>
              </a:rPr>
              <a:t> Problem Statement</a:t>
            </a:r>
          </a:p>
          <a:p>
            <a:pPr marL="0" indent="0">
              <a:spcBef>
                <a:spcPts val="695"/>
              </a:spcBef>
              <a:buClr>
                <a:srgbClr val="FF9966"/>
              </a:buClr>
              <a:buSzPct val="50000"/>
              <a:buFont typeface="Wingdings" pitchFamily="2" charset="2"/>
              <a:buChar char="v"/>
              <a:tabLst>
                <a:tab pos="571317" algn="l"/>
                <a:tab pos="1485717" algn="l"/>
                <a:tab pos="2400117" algn="l"/>
                <a:tab pos="3314517" algn="l"/>
                <a:tab pos="4228917" algn="l"/>
                <a:tab pos="5143317" algn="l"/>
                <a:tab pos="6057717" algn="l"/>
                <a:tab pos="6972117" algn="l"/>
                <a:tab pos="7886517" algn="l"/>
                <a:tab pos="8800917" algn="l"/>
                <a:tab pos="9715317" algn="l"/>
              </a:tabLst>
            </a:pPr>
            <a:r>
              <a:rPr lang="en-US" sz="2800" b="1" dirty="0">
                <a:latin typeface="Times New Roman" pitchFamily="18" charset="0"/>
                <a:cs typeface="Times New Roman" pitchFamily="18" charset="0"/>
              </a:rPr>
              <a:t> Motivation</a:t>
            </a:r>
          </a:p>
          <a:p>
            <a:pPr marL="0" indent="0">
              <a:spcBef>
                <a:spcPts val="695"/>
              </a:spcBef>
              <a:buClr>
                <a:srgbClr val="FF9966"/>
              </a:buClr>
              <a:buSzPct val="50000"/>
              <a:buFont typeface="Wingdings" pitchFamily="2" charset="2"/>
              <a:buChar char="v"/>
              <a:tabLst>
                <a:tab pos="571317" algn="l"/>
                <a:tab pos="1485717" algn="l"/>
                <a:tab pos="2400117" algn="l"/>
                <a:tab pos="3314517" algn="l"/>
                <a:tab pos="4228917" algn="l"/>
                <a:tab pos="5143317" algn="l"/>
                <a:tab pos="6057717" algn="l"/>
                <a:tab pos="6972117" algn="l"/>
                <a:tab pos="7886517" algn="l"/>
                <a:tab pos="8800917" algn="l"/>
                <a:tab pos="9715317" algn="l"/>
              </a:tabLst>
            </a:pPr>
            <a:r>
              <a:rPr lang="en-US" sz="2800" b="1" dirty="0">
                <a:latin typeface="Times New Roman" pitchFamily="18" charset="0"/>
                <a:cs typeface="Times New Roman" pitchFamily="18" charset="0"/>
              </a:rPr>
              <a:t> Literature Survey</a:t>
            </a:r>
          </a:p>
          <a:p>
            <a:pPr marL="0" indent="0">
              <a:spcBef>
                <a:spcPts val="695"/>
              </a:spcBef>
              <a:buClr>
                <a:srgbClr val="FF9966"/>
              </a:buClr>
              <a:buSzPct val="50000"/>
              <a:buFont typeface="Wingdings" pitchFamily="2" charset="2"/>
              <a:buChar char="v"/>
              <a:tabLst>
                <a:tab pos="571317" algn="l"/>
                <a:tab pos="1485717" algn="l"/>
                <a:tab pos="2400117" algn="l"/>
                <a:tab pos="3314517" algn="l"/>
                <a:tab pos="4228917" algn="l"/>
                <a:tab pos="5143317" algn="l"/>
                <a:tab pos="6057717" algn="l"/>
                <a:tab pos="6972117" algn="l"/>
                <a:tab pos="7886517" algn="l"/>
                <a:tab pos="8800917" algn="l"/>
                <a:tab pos="9715317" algn="l"/>
              </a:tabLst>
            </a:pPr>
            <a:r>
              <a:rPr lang="en-US" sz="2800" b="1" dirty="0">
                <a:latin typeface="Times New Roman" pitchFamily="18" charset="0"/>
                <a:cs typeface="Times New Roman" pitchFamily="18" charset="0"/>
              </a:rPr>
              <a:t> Project Work flow</a:t>
            </a:r>
          </a:p>
          <a:p>
            <a:pPr marL="0" indent="0">
              <a:spcBef>
                <a:spcPts val="695"/>
              </a:spcBef>
              <a:buClr>
                <a:srgbClr val="FF9966"/>
              </a:buClr>
              <a:buSzPct val="50000"/>
              <a:buFont typeface="Wingdings" pitchFamily="2" charset="2"/>
              <a:buChar char="v"/>
              <a:tabLst>
                <a:tab pos="571317" algn="l"/>
                <a:tab pos="1485717" algn="l"/>
                <a:tab pos="2400117" algn="l"/>
                <a:tab pos="3314517" algn="l"/>
                <a:tab pos="4228917" algn="l"/>
                <a:tab pos="5143317" algn="l"/>
                <a:tab pos="6057717" algn="l"/>
                <a:tab pos="6972117" algn="l"/>
                <a:tab pos="7886517" algn="l"/>
                <a:tab pos="8800917" algn="l"/>
                <a:tab pos="9715317" algn="l"/>
              </a:tabLst>
            </a:pPr>
            <a:r>
              <a:rPr lang="en-US" sz="2800" b="1" dirty="0">
                <a:latin typeface="Times New Roman" pitchFamily="18" charset="0"/>
                <a:cs typeface="Times New Roman" pitchFamily="18" charset="0"/>
              </a:rPr>
              <a:t> System Architecture/Algorithm</a:t>
            </a:r>
          </a:p>
          <a:p>
            <a:pPr marL="0" indent="0">
              <a:spcBef>
                <a:spcPts val="695"/>
              </a:spcBef>
              <a:buClr>
                <a:srgbClr val="FF9966"/>
              </a:buClr>
              <a:buSzPct val="50000"/>
              <a:buFont typeface="Wingdings" pitchFamily="2" charset="2"/>
              <a:buChar char="v"/>
              <a:tabLst>
                <a:tab pos="571317" algn="l"/>
                <a:tab pos="1485717" algn="l"/>
                <a:tab pos="2400117" algn="l"/>
                <a:tab pos="3314517" algn="l"/>
                <a:tab pos="4228917" algn="l"/>
                <a:tab pos="5143317" algn="l"/>
                <a:tab pos="6057717" algn="l"/>
                <a:tab pos="6972117" algn="l"/>
                <a:tab pos="7886517" algn="l"/>
                <a:tab pos="8800917" algn="l"/>
                <a:tab pos="9715317" algn="l"/>
              </a:tabLst>
            </a:pPr>
            <a:r>
              <a:rPr lang="en-US" sz="2800" b="1" dirty="0">
                <a:latin typeface="Times New Roman" pitchFamily="18" charset="0"/>
                <a:cs typeface="Times New Roman" pitchFamily="18" charset="0"/>
              </a:rPr>
              <a:t> References</a:t>
            </a:r>
          </a:p>
        </p:txBody>
      </p:sp>
      <p:sp>
        <p:nvSpPr>
          <p:cNvPr id="8" name="Slide Number Placeholder 7"/>
          <p:cNvSpPr>
            <a:spLocks noGrp="1"/>
          </p:cNvSpPr>
          <p:nvPr>
            <p:ph type="sldNum" sz="quarter" idx="4294967295"/>
          </p:nvPr>
        </p:nvSpPr>
        <p:spPr>
          <a:xfrm>
            <a:off x="9639300" y="6343933"/>
            <a:ext cx="2057400" cy="365129"/>
          </a:xfrm>
          <a:prstGeom prst="rect">
            <a:avLst/>
          </a:prstGeom>
        </p:spPr>
        <p:txBody>
          <a:bodyPr/>
          <a:lstStyle/>
          <a:p>
            <a:pPr lvl="0"/>
            <a:fld id="{041546D6-25D2-4E08-B705-3CDDCADBC19E}" type="slidenum">
              <a:rPr lang="en-US" smtClean="0"/>
              <a:pPr lvl="0"/>
              <a:t>3</a:t>
            </a:fld>
            <a:endParaRPr 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1524000" y="365126"/>
            <a:ext cx="9144000" cy="962025"/>
          </a:xfrm>
        </p:spPr>
        <p:txBody>
          <a:bodyPr vert="horz" lIns="92162" tIns="46076" rIns="92162" bIns="46076" rtlCol="0" anchor="ctr" anchorCtr="1">
            <a:normAutofit/>
          </a:bodyPr>
          <a:lstStyle/>
          <a:p>
            <a:pPr hangingPunct="0">
              <a:lnSpc>
                <a:spcPct val="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dirty="0">
                <a:solidFill>
                  <a:srgbClr val="336699"/>
                </a:solidFill>
                <a:effectLst>
                  <a:outerShdw dist="17962" dir="2700000">
                    <a:srgbClr val="000000"/>
                  </a:outerShdw>
                </a:effectLst>
                <a:latin typeface="Times New Roman" pitchFamily="18" charset="0"/>
                <a:cs typeface="Times New Roman" pitchFamily="18" charset="0"/>
              </a:rPr>
              <a:t>Introduction</a:t>
            </a:r>
          </a:p>
        </p:txBody>
      </p:sp>
      <p:sp>
        <p:nvSpPr>
          <p:cNvPr id="3" name="Text Placeholder 2"/>
          <p:cNvSpPr txBox="1">
            <a:spLocks noGrp="1"/>
          </p:cNvSpPr>
          <p:nvPr>
            <p:ph type="body" idx="4294967295"/>
          </p:nvPr>
        </p:nvSpPr>
        <p:spPr>
          <a:xfrm>
            <a:off x="911424" y="1666137"/>
            <a:ext cx="10369152" cy="4283143"/>
          </a:xfrm>
        </p:spPr>
        <p:txBody>
          <a:bodyPr vert="horz" lIns="92162" tIns="46076" rIns="92162" bIns="46076" rtlCol="0">
            <a:normAutofit fontScale="85000" lnSpcReduction="20000"/>
          </a:bodyPr>
          <a:lstStyle/>
          <a:p>
            <a:pPr marL="0" indent="0" hangingPunct="0">
              <a:spcBef>
                <a:spcPts val="800"/>
              </a:spcBef>
              <a:buClr>
                <a:srgbClr val="FF9966"/>
              </a:buClr>
              <a:buSzPct val="50000"/>
              <a:buNone/>
              <a:tabLst>
                <a:tab pos="571317" algn="l"/>
                <a:tab pos="1485717" algn="l"/>
                <a:tab pos="2400117" algn="l"/>
                <a:tab pos="3314517" algn="l"/>
                <a:tab pos="4228917" algn="l"/>
                <a:tab pos="5143317" algn="l"/>
                <a:tab pos="6057717" algn="l"/>
                <a:tab pos="6972117" algn="l"/>
                <a:tab pos="7886517" algn="l"/>
                <a:tab pos="8800917" algn="l"/>
                <a:tab pos="9715317" algn="l"/>
              </a:tabLst>
            </a:pPr>
            <a:endParaRPr lang="en-US" dirty="0">
              <a:solidFill>
                <a:srgbClr val="336699"/>
              </a:solidFill>
              <a:latin typeface="Arial" pitchFamily="34"/>
              <a:cs typeface="Times New Roman" pitchFamily="18"/>
            </a:endParaRPr>
          </a:p>
          <a:p>
            <a:pPr lvl="0"/>
            <a:r>
              <a:rPr lang="en-IN" b="1" dirty="0"/>
              <a:t>Project Name:</a:t>
            </a:r>
            <a:r>
              <a:rPr lang="en-IN" dirty="0"/>
              <a:t> Nyaya AI (</a:t>
            </a:r>
            <a:r>
              <a:rPr lang="en-IN" dirty="0" err="1"/>
              <a:t>न्याय</a:t>
            </a:r>
            <a:r>
              <a:rPr lang="en-IN" dirty="0"/>
              <a:t> AI)</a:t>
            </a:r>
          </a:p>
          <a:p>
            <a:pPr lvl="0"/>
            <a:r>
              <a:rPr lang="en-IN" b="1" dirty="0"/>
              <a:t>Core Concept:</a:t>
            </a:r>
            <a:r>
              <a:rPr lang="en-IN" dirty="0"/>
              <a:t> An AI-powered judicial intelligence platform designed specifically for the Indian Legal System.</a:t>
            </a:r>
          </a:p>
          <a:p>
            <a:pPr lvl="0"/>
            <a:r>
              <a:rPr lang="en-IN" b="1" dirty="0"/>
              <a:t>Target Audience:</a:t>
            </a:r>
            <a:r>
              <a:rPr lang="en-IN" dirty="0"/>
              <a:t> Practicing Advocates and Judges.</a:t>
            </a:r>
          </a:p>
          <a:p>
            <a:pPr lvl="0"/>
            <a:r>
              <a:rPr lang="en-IN" b="1" dirty="0"/>
              <a:t>Key Functionalities:</a:t>
            </a:r>
            <a:r>
              <a:rPr lang="en-IN" dirty="0"/>
              <a:t> Automated FIR document ingestion via OCR, statutory mapping (IPC, CrPC, BNS), exact precedent retrieval, and AI-driven evidentiary assistance.</a:t>
            </a:r>
          </a:p>
          <a:p>
            <a:pPr lvl="0"/>
            <a:r>
              <a:rPr lang="en-IN" b="1" dirty="0"/>
              <a:t>Architecture:</a:t>
            </a:r>
            <a:r>
              <a:rPr lang="en-IN" dirty="0"/>
              <a:t> A decoupled client-server setup utilizing a dual-collection Retrieval-Augmented Generation (RAG) system to strictly separate statutory rules from historical case precedents.</a:t>
            </a:r>
          </a:p>
          <a:p>
            <a:pPr marL="0" indent="0" hangingPunct="0">
              <a:spcBef>
                <a:spcPts val="800"/>
              </a:spcBef>
              <a:buClr>
                <a:srgbClr val="FF9966"/>
              </a:buClr>
              <a:buSzPct val="50000"/>
              <a:buNone/>
              <a:tabLst>
                <a:tab pos="571317" algn="l"/>
                <a:tab pos="1485717" algn="l"/>
                <a:tab pos="2400117" algn="l"/>
                <a:tab pos="3314517" algn="l"/>
                <a:tab pos="4228917" algn="l"/>
                <a:tab pos="5143317" algn="l"/>
                <a:tab pos="6057717" algn="l"/>
                <a:tab pos="6972117" algn="l"/>
                <a:tab pos="7886517" algn="l"/>
                <a:tab pos="8800917" algn="l"/>
                <a:tab pos="9715317" algn="l"/>
              </a:tabLst>
            </a:pPr>
            <a:endParaRPr lang="en-US" b="1" dirty="0">
              <a:solidFill>
                <a:srgbClr val="336699"/>
              </a:solidFill>
              <a:latin typeface="Arial" pitchFamily="34"/>
              <a:cs typeface="Times New Roman" pitchFamily="18"/>
            </a:endParaRPr>
          </a:p>
          <a:p>
            <a:pPr marL="1199875" lvl="2" indent="-285475" hangingPunct="0">
              <a:spcBef>
                <a:spcPts val="650"/>
              </a:spcBef>
              <a:buNone/>
              <a:tabLst>
                <a:tab pos="1313992" algn="l"/>
                <a:tab pos="2228392" algn="l"/>
                <a:tab pos="3142792" algn="l"/>
                <a:tab pos="4057192" algn="l"/>
                <a:tab pos="4971592" algn="l"/>
                <a:tab pos="5885992" algn="l"/>
                <a:tab pos="6800392" algn="l"/>
                <a:tab pos="7714792" algn="l"/>
                <a:tab pos="8629192" algn="l"/>
                <a:tab pos="9543592" algn="l"/>
                <a:tab pos="10457992" algn="l"/>
              </a:tabLst>
            </a:pPr>
            <a:endParaRPr lang="en-US" b="1" dirty="0">
              <a:solidFill>
                <a:srgbClr val="336699"/>
              </a:solidFill>
              <a:latin typeface="Arial" pitchFamily="34"/>
              <a:cs typeface="Times New Roman" pitchFamily="18"/>
            </a:endParaRPr>
          </a:p>
          <a:p>
            <a:pPr marL="1199875" lvl="2" indent="-285475" hangingPunct="0">
              <a:spcBef>
                <a:spcPts val="650"/>
              </a:spcBef>
              <a:buNone/>
              <a:tabLst>
                <a:tab pos="1313992" algn="l"/>
                <a:tab pos="2228392" algn="l"/>
                <a:tab pos="3142792" algn="l"/>
                <a:tab pos="4057192" algn="l"/>
                <a:tab pos="4971592" algn="l"/>
                <a:tab pos="5885992" algn="l"/>
                <a:tab pos="6800392" algn="l"/>
                <a:tab pos="7714792" algn="l"/>
                <a:tab pos="8629192" algn="l"/>
                <a:tab pos="9543592" algn="l"/>
                <a:tab pos="10457992" algn="l"/>
              </a:tabLst>
            </a:pPr>
            <a:endParaRPr lang="en-US" b="1" dirty="0">
              <a:solidFill>
                <a:srgbClr val="336699"/>
              </a:solidFill>
              <a:latin typeface="Arial" pitchFamily="34"/>
              <a:cs typeface="Times New Roman" pitchFamily="18"/>
            </a:endParaRPr>
          </a:p>
          <a:p>
            <a:pPr marL="1199875" lvl="2" indent="-285475" hangingPunct="0">
              <a:spcBef>
                <a:spcPts val="650"/>
              </a:spcBef>
              <a:buNone/>
              <a:tabLst>
                <a:tab pos="1313992" algn="l"/>
                <a:tab pos="2228392" algn="l"/>
                <a:tab pos="3142792" algn="l"/>
                <a:tab pos="4057192" algn="l"/>
                <a:tab pos="4971592" algn="l"/>
                <a:tab pos="5885992" algn="l"/>
                <a:tab pos="6800392" algn="l"/>
                <a:tab pos="7714792" algn="l"/>
                <a:tab pos="8629192" algn="l"/>
                <a:tab pos="9543592" algn="l"/>
                <a:tab pos="10457992" algn="l"/>
              </a:tabLst>
            </a:pPr>
            <a:endParaRPr lang="en-US" b="1" dirty="0">
              <a:solidFill>
                <a:srgbClr val="336699"/>
              </a:solidFill>
              <a:latin typeface="Arial" pitchFamily="34"/>
              <a:cs typeface="Times New Roman" pitchFamily="18"/>
            </a:endParaRPr>
          </a:p>
        </p:txBody>
      </p:sp>
      <p:sp>
        <p:nvSpPr>
          <p:cNvPr id="12" name="Slide Number Placeholder 11"/>
          <p:cNvSpPr>
            <a:spLocks noGrp="1"/>
          </p:cNvSpPr>
          <p:nvPr>
            <p:ph type="sldNum" sz="quarter" idx="4294967295"/>
          </p:nvPr>
        </p:nvSpPr>
        <p:spPr>
          <a:xfrm>
            <a:off x="9768408" y="6288266"/>
            <a:ext cx="2057400" cy="365129"/>
          </a:xfrm>
          <a:prstGeom prst="rect">
            <a:avLst/>
          </a:prstGeom>
        </p:spPr>
        <p:txBody>
          <a:bodyPr/>
          <a:lstStyle/>
          <a:p>
            <a:pPr lvl="0"/>
            <a:fld id="{041546D6-25D2-4E08-B705-3CDDCADBC19E}" type="slidenum">
              <a:rPr lang="en-US" smtClean="0"/>
              <a:pPr lvl="0"/>
              <a:t>4</a:t>
            </a:fld>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vert="horz" lIns="92162" tIns="46076" rIns="92162" bIns="46076" rtlCol="0" anchor="ctr">
            <a:normAutofit/>
          </a:bodyPr>
          <a:lstStyle/>
          <a:p>
            <a:pPr hangingPunct="0">
              <a:lnSpc>
                <a:spcPct val="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dirty="0">
                <a:solidFill>
                  <a:srgbClr val="336699"/>
                </a:solidFill>
                <a:effectLst>
                  <a:outerShdw dist="17962" dir="2700000">
                    <a:srgbClr val="000000"/>
                  </a:outerShdw>
                </a:effectLst>
                <a:latin typeface="Times New Roman" pitchFamily="18" charset="0"/>
                <a:cs typeface="Times New Roman" pitchFamily="18" charset="0"/>
              </a:rPr>
              <a:t>Motivation</a:t>
            </a:r>
          </a:p>
        </p:txBody>
      </p:sp>
      <p:sp>
        <p:nvSpPr>
          <p:cNvPr id="6" name="Content Placeholder 5">
            <a:extLst>
              <a:ext uri="{FF2B5EF4-FFF2-40B4-BE49-F238E27FC236}">
                <a16:creationId xmlns:a16="http://schemas.microsoft.com/office/drawing/2014/main" id="{9909EF1E-A34D-1407-5518-E8EB10361B8E}"/>
              </a:ext>
            </a:extLst>
          </p:cNvPr>
          <p:cNvSpPr>
            <a:spLocks noGrp="1"/>
          </p:cNvSpPr>
          <p:nvPr>
            <p:ph idx="1"/>
          </p:nvPr>
        </p:nvSpPr>
        <p:spPr/>
        <p:txBody>
          <a:bodyPr>
            <a:normAutofit fontScale="85000" lnSpcReduction="10000"/>
          </a:bodyPr>
          <a:lstStyle/>
          <a:p>
            <a:pPr lvl="0"/>
            <a:r>
              <a:rPr lang="en-IN" b="1" dirty="0"/>
              <a:t>Efficiency in Justice Delivery:</a:t>
            </a:r>
            <a:r>
              <a:rPr lang="en-IN" dirty="0"/>
              <a:t> To drastically reduce the time taken for courtroom preparation by automating the extraction of core facts from messy, real-world inputs like First Information Reports (FIRs) and charge sheets.</a:t>
            </a:r>
          </a:p>
          <a:p>
            <a:pPr lvl="0"/>
            <a:r>
              <a:rPr lang="en-IN" b="1" dirty="0"/>
              <a:t>Eradicating AI Hallucinations:</a:t>
            </a:r>
            <a:r>
              <a:rPr lang="en-IN" dirty="0"/>
              <a:t> To build a trustworthy system that prevents the LLM from confusing a judge's subjective opinion with a hard statutory law by using an isolated, two-step database architecture.</a:t>
            </a:r>
          </a:p>
          <a:p>
            <a:pPr lvl="0"/>
            <a:r>
              <a:rPr lang="en-IN" b="1" dirty="0"/>
              <a:t>Practical Applicability:</a:t>
            </a:r>
            <a:r>
              <a:rPr lang="en-IN" dirty="0"/>
              <a:t> To provide advocates with highly relevant evidentiary suggestions and drafting assistance based strictly on historical precedents that share similar fact patterns and weapons used.</a:t>
            </a:r>
          </a:p>
          <a:p>
            <a:endParaRPr lang="en-IN" dirty="0"/>
          </a:p>
        </p:txBody>
      </p:sp>
      <p:sp>
        <p:nvSpPr>
          <p:cNvPr id="8" name="Slide Number Placeholder 7"/>
          <p:cNvSpPr>
            <a:spLocks noGrp="1"/>
          </p:cNvSpPr>
          <p:nvPr>
            <p:ph type="sldNum" sz="quarter" idx="12"/>
          </p:nvPr>
        </p:nvSpPr>
        <p:spPr>
          <a:prstGeom prst="rect">
            <a:avLst/>
          </a:prstGeom>
        </p:spPr>
        <p:txBody>
          <a:bodyPr/>
          <a:lstStyle/>
          <a:p>
            <a:pPr lvl="0"/>
            <a:fld id="{041546D6-25D2-4E08-B705-3CDDCADBC19E}" type="slidenum">
              <a:rPr lang="en-US" smtClean="0"/>
              <a:pPr lvl="0"/>
              <a:t>5</a:t>
            </a:fld>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vert="horz" lIns="92162" tIns="46076" rIns="92162" bIns="46076" rtlCol="0" anchor="ctr">
            <a:normAutofit/>
          </a:bodyPr>
          <a:lstStyle/>
          <a:p>
            <a:pPr hangingPunct="0">
              <a:lnSpc>
                <a:spcPct val="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dirty="0">
                <a:solidFill>
                  <a:srgbClr val="336699"/>
                </a:solidFill>
                <a:effectLst>
                  <a:outerShdw dist="17962" dir="2700000">
                    <a:srgbClr val="000000"/>
                  </a:outerShdw>
                </a:effectLst>
                <a:latin typeface="Times New Roman" pitchFamily="18" charset="0"/>
                <a:cs typeface="Times New Roman" pitchFamily="18" charset="0"/>
              </a:rPr>
              <a:t>Problem Statement</a:t>
            </a:r>
          </a:p>
        </p:txBody>
      </p:sp>
      <p:sp>
        <p:nvSpPr>
          <p:cNvPr id="3" name="Content Placeholder 2">
            <a:extLst>
              <a:ext uri="{FF2B5EF4-FFF2-40B4-BE49-F238E27FC236}">
                <a16:creationId xmlns:a16="http://schemas.microsoft.com/office/drawing/2014/main" id="{47792281-5793-1052-14D7-2C3F736E273A}"/>
              </a:ext>
            </a:extLst>
          </p:cNvPr>
          <p:cNvSpPr>
            <a:spLocks noGrp="1"/>
          </p:cNvSpPr>
          <p:nvPr>
            <p:ph idx="1"/>
          </p:nvPr>
        </p:nvSpPr>
        <p:spPr/>
        <p:txBody>
          <a:bodyPr>
            <a:normAutofit fontScale="85000" lnSpcReduction="10000"/>
          </a:bodyPr>
          <a:lstStyle/>
          <a:p>
            <a:pPr lvl="0"/>
            <a:r>
              <a:rPr lang="en-IN" b="1" dirty="0"/>
              <a:t>Massive Judicial Backlog:</a:t>
            </a:r>
            <a:r>
              <a:rPr lang="en-IN" dirty="0"/>
              <a:t> The Indian judicial system is heavily burdened; there are currently over 4.1 crore (41 million) pending criminal cases in Indian courts, with 16% pending for 5 to 10 years and 9% pending for over 10 years.</a:t>
            </a:r>
          </a:p>
          <a:p>
            <a:pPr lvl="0"/>
            <a:r>
              <a:rPr lang="en-IN" b="1" dirty="0"/>
              <a:t>Inefficient Legal Research:</a:t>
            </a:r>
            <a:r>
              <a:rPr lang="en-IN" dirty="0"/>
              <a:t> Legal professionals spend excessive, unbillable hours manually reading through boilerplate text in FIRs and mapping specific case facts to relevant statutory sections.</a:t>
            </a:r>
          </a:p>
          <a:p>
            <a:pPr lvl="0"/>
            <a:r>
              <a:rPr lang="en-IN" b="1" dirty="0"/>
              <a:t>Lack of Localized AI:</a:t>
            </a:r>
            <a:r>
              <a:rPr lang="en-IN" dirty="0"/>
              <a:t> Generic AI models hallucinate when asked to provide legal counsel. There is a lack of specialized, grounded tools that can navigate the nuances of Indian law and the current transition from legacy codes (IPC/CrPC) to the new Bharatiya Nagarik Suraksha Sanhita (BNSS).</a:t>
            </a:r>
          </a:p>
          <a:p>
            <a:endParaRPr lang="en-IN" dirty="0"/>
          </a:p>
        </p:txBody>
      </p:sp>
      <p:sp>
        <p:nvSpPr>
          <p:cNvPr id="8" name="Slide Number Placeholder 7"/>
          <p:cNvSpPr>
            <a:spLocks noGrp="1"/>
          </p:cNvSpPr>
          <p:nvPr>
            <p:ph type="sldNum" sz="quarter" idx="12"/>
          </p:nvPr>
        </p:nvSpPr>
        <p:spPr>
          <a:prstGeom prst="rect">
            <a:avLst/>
          </a:prstGeom>
        </p:spPr>
        <p:txBody>
          <a:bodyPr/>
          <a:lstStyle/>
          <a:p>
            <a:pPr lvl="0"/>
            <a:fld id="{041546D6-25D2-4E08-B705-3CDDCADBC19E}" type="slidenum">
              <a:rPr lang="en-US" smtClean="0"/>
              <a:pPr lvl="0"/>
              <a:t>6</a:t>
            </a:fld>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p:nvPr/>
        </p:nvSpPr>
        <p:spPr>
          <a:xfrm>
            <a:off x="2362084" y="152284"/>
            <a:ext cx="7772400" cy="914400"/>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90004" tIns="46798" rIns="90004" bIns="46798" anchor="t" anchorCtr="0" compatLnSpc="0"/>
          <a:lstStyle/>
          <a:p>
            <a:pPr hangingPunct="0">
              <a:defRPr sz="1800" b="0" i="0" u="none" strike="noStrike" kern="0" cap="none" spc="0" baseline="0">
                <a:solidFill>
                  <a:srgbClr val="000000"/>
                </a:solidFill>
                <a:uFillTx/>
              </a:defRPr>
            </a:pPr>
            <a:endParaRPr lang="en-US" sz="2400">
              <a:solidFill>
                <a:srgbClr val="000000"/>
              </a:solidFill>
              <a:latin typeface="Liberation Serif" pitchFamily="18"/>
              <a:ea typeface="DejaVu Sans" pitchFamily="2"/>
              <a:cs typeface="DejaVu Sans" pitchFamily="2"/>
            </a:endParaRPr>
          </a:p>
        </p:txBody>
      </p:sp>
      <p:sp>
        <p:nvSpPr>
          <p:cNvPr id="5" name="Title 4"/>
          <p:cNvSpPr txBox="1">
            <a:spLocks noGrp="1"/>
          </p:cNvSpPr>
          <p:nvPr>
            <p:ph type="title"/>
          </p:nvPr>
        </p:nvSpPr>
        <p:spPr/>
        <p:txBody>
          <a:bodyPr vert="horz" lIns="92162" tIns="46076" rIns="92162" bIns="46076" rtlCol="0" anchor="ctr" anchorCtr="1">
            <a:normAutofit/>
          </a:bodyPr>
          <a:lstStyle/>
          <a:p>
            <a:pPr hangingPunct="0">
              <a:lnSpc>
                <a:spcPct val="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dirty="0">
                <a:solidFill>
                  <a:srgbClr val="336699"/>
                </a:solidFill>
                <a:effectLst>
                  <a:outerShdw dist="17962" dir="2700000">
                    <a:srgbClr val="000000"/>
                  </a:outerShdw>
                </a:effectLst>
                <a:latin typeface="Times New Roman" pitchFamily="18" charset="0"/>
                <a:cs typeface="Times New Roman" pitchFamily="18" charset="0"/>
              </a:rPr>
              <a:t>Literature Survey</a:t>
            </a:r>
          </a:p>
        </p:txBody>
      </p:sp>
      <p:sp>
        <p:nvSpPr>
          <p:cNvPr id="3" name="Content Placeholder 2">
            <a:extLst>
              <a:ext uri="{FF2B5EF4-FFF2-40B4-BE49-F238E27FC236}">
                <a16:creationId xmlns:a16="http://schemas.microsoft.com/office/drawing/2014/main" id="{B2C5D3AA-6BCB-4DC3-36E2-44F327BED437}"/>
              </a:ext>
            </a:extLst>
          </p:cNvPr>
          <p:cNvSpPr>
            <a:spLocks noGrp="1"/>
          </p:cNvSpPr>
          <p:nvPr>
            <p:ph idx="1"/>
          </p:nvPr>
        </p:nvSpPr>
        <p:spPr/>
        <p:txBody>
          <a:bodyPr>
            <a:normAutofit fontScale="77500" lnSpcReduction="20000"/>
          </a:bodyPr>
          <a:lstStyle/>
          <a:p>
            <a:pPr lvl="0"/>
            <a:r>
              <a:rPr lang="en-IN" b="1" dirty="0"/>
              <a:t>Indian Legal Documents Corpus (ILDC):</a:t>
            </a:r>
            <a:r>
              <a:rPr lang="en-IN" dirty="0"/>
              <a:t> Researchers have developed large-scale datasets, such as the ILDC, containing thousands of Indian Supreme Court cases with expert annotations. These datasets prove the technical viability of using Natural Language Processing (NLP) for case explanation and precedent matching.</a:t>
            </a:r>
          </a:p>
          <a:p>
            <a:pPr lvl="0"/>
            <a:r>
              <a:rPr lang="en-IN" b="1" dirty="0" err="1"/>
              <a:t>InLegalBERT</a:t>
            </a:r>
            <a:r>
              <a:rPr lang="en-IN" b="1" dirty="0"/>
              <a:t> &amp; Foundational Models:</a:t>
            </a:r>
            <a:r>
              <a:rPr lang="en-IN" dirty="0"/>
              <a:t> Studies demonstrate that using BERT-based models pre-trained specifically on millions of Indian legal documents (like </a:t>
            </a:r>
            <a:r>
              <a:rPr lang="en-IN" dirty="0" err="1"/>
              <a:t>InLegalBERT</a:t>
            </a:r>
            <a:r>
              <a:rPr lang="en-IN" dirty="0"/>
              <a:t>) substantially improves the state-of-the-art in various legal NLP tasks compared to generic language models.</a:t>
            </a:r>
          </a:p>
          <a:p>
            <a:pPr lvl="0"/>
            <a:r>
              <a:rPr lang="en-IN" b="1" dirty="0"/>
              <a:t>Semantic Segmentation &amp; RAG:</a:t>
            </a:r>
            <a:r>
              <a:rPr lang="en-IN" dirty="0"/>
              <a:t> Recent advancements in legal text processing emphasize that segmenting legal texts into rhetorical roles and using vector databases for retrieval is essential for improving the efficiency of legal research and supporting automated decision-making.</a:t>
            </a:r>
          </a:p>
          <a:p>
            <a:endParaRPr lang="en-IN" dirty="0"/>
          </a:p>
        </p:txBody>
      </p:sp>
      <p:sp>
        <p:nvSpPr>
          <p:cNvPr id="10" name="Slide Number Placeholder 9"/>
          <p:cNvSpPr>
            <a:spLocks noGrp="1"/>
          </p:cNvSpPr>
          <p:nvPr>
            <p:ph type="sldNum" sz="quarter" idx="12"/>
          </p:nvPr>
        </p:nvSpPr>
        <p:spPr>
          <a:prstGeom prst="rect">
            <a:avLst/>
          </a:prstGeom>
        </p:spPr>
        <p:txBody>
          <a:bodyPr/>
          <a:lstStyle/>
          <a:p>
            <a:pPr lvl="0"/>
            <a:fld id="{041546D6-25D2-4E08-B705-3CDDCADBC19E}" type="slidenum">
              <a:rPr lang="en-US" smtClean="0"/>
              <a:pPr lvl="0"/>
              <a:t>7</a:t>
            </a:fld>
            <a:endParaRPr lang="en-US" dirty="0"/>
          </a:p>
        </p:txBody>
      </p:sp>
      <p:sp>
        <p:nvSpPr>
          <p:cNvPr id="7" name="Slide Number Placeholder 6"/>
          <p:cNvSpPr txBox="1"/>
          <p:nvPr/>
        </p:nvSpPr>
        <p:spPr>
          <a:xfrm>
            <a:off x="9768408" y="6356352"/>
            <a:ext cx="2057400" cy="365129"/>
          </a:xfrm>
          <a:prstGeom prst="rect">
            <a:avLst/>
          </a:prstGeom>
          <a:noFill/>
          <a:ln>
            <a:noFill/>
          </a:ln>
        </p:spPr>
        <p:txBody>
          <a:bodyPr vert="horz" wrap="square" lIns="91440" tIns="45720" rIns="91440" bIns="45720" anchor="ctr" anchorCtr="0" compatLnSpc="1"/>
          <a:lstStyle/>
          <a:p>
            <a:pPr algn="r">
              <a:defRPr sz="1800" b="0" i="0" u="none" strike="noStrike" kern="0" cap="none" spc="0" baseline="0">
                <a:solidFill>
                  <a:srgbClr val="000000"/>
                </a:solidFill>
                <a:uFillTx/>
              </a:defRPr>
            </a:pPr>
            <a:endParaRPr lang="en-US" sz="1200" dirty="0">
              <a:solidFill>
                <a:srgbClr val="898989"/>
              </a:solidFill>
              <a:latin typeface="Calibri"/>
              <a:ea typeface=""/>
              <a:cs typeface=""/>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p:nvPr/>
        </p:nvSpPr>
        <p:spPr>
          <a:xfrm>
            <a:off x="2362084" y="152284"/>
            <a:ext cx="7772400" cy="914400"/>
          </a:xfrm>
          <a:custGeom>
            <a:avLst/>
            <a:gdLst>
              <a:gd name="f0" fmla="val w"/>
              <a:gd name="f1" fmla="val h"/>
              <a:gd name="f2" fmla="val 0"/>
              <a:gd name="f3" fmla="val 21600"/>
              <a:gd name="f4" fmla="*/ f0 1 21600"/>
              <a:gd name="f5" fmla="*/ f1 1 21600"/>
              <a:gd name="f6" fmla="+- f3 0 f2"/>
              <a:gd name="f7" fmla="*/ f6 1 21600"/>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600" h="21600">
                <a:moveTo>
                  <a:pt x="f2" y="f2"/>
                </a:moveTo>
                <a:lnTo>
                  <a:pt x="f3" y="f2"/>
                </a:lnTo>
                <a:lnTo>
                  <a:pt x="f3" y="f3"/>
                </a:lnTo>
                <a:lnTo>
                  <a:pt x="f2" y="f3"/>
                </a:lnTo>
                <a:lnTo>
                  <a:pt x="f2" y="f2"/>
                </a:lnTo>
                <a:close/>
              </a:path>
            </a:pathLst>
          </a:custGeom>
          <a:noFill/>
          <a:ln>
            <a:noFill/>
            <a:prstDash val="solid"/>
          </a:ln>
        </p:spPr>
        <p:txBody>
          <a:bodyPr vert="horz" wrap="square" lIns="90004" tIns="46798" rIns="90004" bIns="46798" anchor="t" anchorCtr="0" compatLnSpc="0"/>
          <a:lstStyle/>
          <a:p>
            <a:pPr hangingPunct="0">
              <a:defRPr sz="1800" b="0" i="0" u="none" strike="noStrike" kern="0" cap="none" spc="0" baseline="0">
                <a:solidFill>
                  <a:srgbClr val="000000"/>
                </a:solidFill>
                <a:uFillTx/>
              </a:defRPr>
            </a:pPr>
            <a:endParaRPr lang="en-US" sz="2400">
              <a:solidFill>
                <a:srgbClr val="000000"/>
              </a:solidFill>
              <a:latin typeface="Liberation Serif" pitchFamily="18"/>
              <a:ea typeface="DejaVu Sans" pitchFamily="2"/>
              <a:cs typeface="DejaVu Sans" pitchFamily="2"/>
            </a:endParaRPr>
          </a:p>
        </p:txBody>
      </p:sp>
      <p:sp>
        <p:nvSpPr>
          <p:cNvPr id="5" name="Title 4"/>
          <p:cNvSpPr txBox="1">
            <a:spLocks noGrp="1"/>
          </p:cNvSpPr>
          <p:nvPr>
            <p:ph type="title"/>
          </p:nvPr>
        </p:nvSpPr>
        <p:spPr/>
        <p:txBody>
          <a:bodyPr vert="horz" lIns="92162" tIns="46076" rIns="92162" bIns="46076" rtlCol="0" anchor="ctr" anchorCtr="1">
            <a:normAutofit/>
          </a:bodyPr>
          <a:lstStyle/>
          <a:p>
            <a:pPr hangingPunct="0">
              <a:lnSpc>
                <a:spcPct val="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dirty="0">
                <a:solidFill>
                  <a:srgbClr val="336699"/>
                </a:solidFill>
                <a:effectLst>
                  <a:outerShdw dist="17962" dir="2700000">
                    <a:srgbClr val="000000"/>
                  </a:outerShdw>
                </a:effectLst>
                <a:latin typeface="Times New Roman" pitchFamily="18" charset="0"/>
                <a:cs typeface="Times New Roman" pitchFamily="18" charset="0"/>
              </a:rPr>
              <a:t>Project Work Flow</a:t>
            </a:r>
          </a:p>
        </p:txBody>
      </p:sp>
      <p:sp>
        <p:nvSpPr>
          <p:cNvPr id="3" name="Content Placeholder 2">
            <a:extLst>
              <a:ext uri="{FF2B5EF4-FFF2-40B4-BE49-F238E27FC236}">
                <a16:creationId xmlns:a16="http://schemas.microsoft.com/office/drawing/2014/main" id="{3455885E-02DA-B1C3-839F-77D5B6DC1D2F}"/>
              </a:ext>
            </a:extLst>
          </p:cNvPr>
          <p:cNvSpPr>
            <a:spLocks noGrp="1"/>
          </p:cNvSpPr>
          <p:nvPr>
            <p:ph idx="1"/>
          </p:nvPr>
        </p:nvSpPr>
        <p:spPr/>
        <p:txBody>
          <a:bodyPr>
            <a:normAutofit fontScale="55000" lnSpcReduction="20000"/>
          </a:bodyPr>
          <a:lstStyle/>
          <a:p>
            <a:pPr lvl="0"/>
            <a:r>
              <a:rPr lang="en-IN" b="1" dirty="0"/>
              <a:t>Document Ingestion:</a:t>
            </a:r>
            <a:r>
              <a:rPr lang="en-IN" dirty="0"/>
              <a:t> The Advocate uploads a raw case document (PDF/Image of an FIR). The system extracts the raw text using a Dual OCR &amp; Text Parser (</a:t>
            </a:r>
            <a:r>
              <a:rPr lang="en-IN" dirty="0" err="1"/>
              <a:t>PyMuPDF</a:t>
            </a:r>
            <a:r>
              <a:rPr lang="en-IN" dirty="0"/>
              <a:t> Native with a Tesseract Fallback).</a:t>
            </a:r>
          </a:p>
          <a:p>
            <a:r>
              <a:rPr lang="en-IN" b="1" dirty="0"/>
              <a:t>Stateful Extraction (Agent 1</a:t>
            </a:r>
            <a:r>
              <a:rPr lang="en-IN" dirty="0"/>
              <a:t>A structured LLM node (Gemini 1.5 Flash in JSON mode) parses the messy FIR text and outputs a clean JSON object isolating the incident facts, extracted laws, and suspect features/MO.</a:t>
            </a:r>
          </a:p>
          <a:p>
            <a:r>
              <a:rPr lang="en-IN" b="1" dirty="0"/>
              <a:t>Tri-Modal Retrieval Subsystem:</a:t>
            </a:r>
          </a:p>
          <a:p>
            <a:pPr lvl="1"/>
            <a:r>
              <a:rPr lang="en-IN" i="1" dirty="0"/>
              <a:t>Step A (Statutory Pass):</a:t>
            </a:r>
            <a:r>
              <a:rPr lang="en-IN" dirty="0"/>
              <a:t> The extracted laws query the "Rulebook" database (IPC, BNS, Constitution, BNSS) to fetch exact legislative definitions and punishments.</a:t>
            </a:r>
          </a:p>
          <a:p>
            <a:pPr lvl="1"/>
            <a:r>
              <a:rPr lang="en-IN" i="1" dirty="0"/>
              <a:t>Step B (Precedent Pass):</a:t>
            </a:r>
            <a:r>
              <a:rPr lang="en-IN" dirty="0"/>
              <a:t> The incident facts are vectorized (using sentence-transformers) to query the "Historical Cases" dataset for semantic precedent matching.</a:t>
            </a:r>
          </a:p>
          <a:p>
            <a:pPr lvl="1"/>
            <a:r>
              <a:rPr lang="en-IN" i="1" dirty="0"/>
              <a:t>Step C (Criminal Record Pass):</a:t>
            </a:r>
            <a:r>
              <a:rPr lang="en-IN" dirty="0"/>
              <a:t> Suspect features are passed through a custom offline-trained Machine Learning Retriever (KNN &amp; Random Forest) to match past criminal profiles and generate a recidivism risk score.</a:t>
            </a:r>
            <a:br>
              <a:rPr lang="en-IN" dirty="0"/>
            </a:br>
            <a:endParaRPr lang="en-IN" dirty="0"/>
          </a:p>
          <a:p>
            <a:pPr marL="514350" indent="-457200"/>
            <a:r>
              <a:rPr lang="en-IN" b="1" dirty="0"/>
              <a:t>Generative Synthesis &amp; Verification:</a:t>
            </a:r>
            <a:r>
              <a:rPr lang="en-IN" dirty="0"/>
              <a:t> The retrieved laws, precedents, and suspect profiles are fed into the Generative Judicial LLM (Gemini 1.5 Pro). The output is then passed through a rigorous Citation &amp; Fact Verification Loop to prevent hallucinations.</a:t>
            </a:r>
          </a:p>
          <a:p>
            <a:pPr lvl="1"/>
            <a:endParaRPr lang="en-IN" b="1" dirty="0"/>
          </a:p>
          <a:p>
            <a:pPr marL="514350" indent="-457200"/>
            <a:r>
              <a:rPr lang="en-IN" b="1" dirty="0"/>
              <a:t>Final Output:</a:t>
            </a:r>
            <a:r>
              <a:rPr lang="en-IN" dirty="0"/>
              <a:t> The system renders a Comprehensive Judicial Report and automates the generation of court-ready filings, including Supreme Court Petitions (English) and District/Magistrate Court drafts (Marathi).</a:t>
            </a:r>
          </a:p>
        </p:txBody>
      </p:sp>
      <p:sp>
        <p:nvSpPr>
          <p:cNvPr id="10" name="Slide Number Placeholder 9"/>
          <p:cNvSpPr>
            <a:spLocks noGrp="1"/>
          </p:cNvSpPr>
          <p:nvPr>
            <p:ph type="sldNum" sz="quarter" idx="12"/>
          </p:nvPr>
        </p:nvSpPr>
        <p:spPr>
          <a:prstGeom prst="rect">
            <a:avLst/>
          </a:prstGeom>
        </p:spPr>
        <p:txBody>
          <a:bodyPr/>
          <a:lstStyle/>
          <a:p>
            <a:pPr lvl="0"/>
            <a:fld id="{041546D6-25D2-4E08-B705-3CDDCADBC19E}" type="slidenum">
              <a:rPr lang="en-US" smtClean="0"/>
              <a:pPr lvl="0"/>
              <a:t>8</a:t>
            </a:fld>
            <a:endParaRPr lang="en-US" dirty="0"/>
          </a:p>
        </p:txBody>
      </p:sp>
      <p:sp>
        <p:nvSpPr>
          <p:cNvPr id="7" name="Slide Number Placeholder 6"/>
          <p:cNvSpPr txBox="1"/>
          <p:nvPr/>
        </p:nvSpPr>
        <p:spPr>
          <a:xfrm>
            <a:off x="9768408" y="6356352"/>
            <a:ext cx="2057400" cy="365129"/>
          </a:xfrm>
          <a:prstGeom prst="rect">
            <a:avLst/>
          </a:prstGeom>
          <a:noFill/>
          <a:ln>
            <a:noFill/>
          </a:ln>
        </p:spPr>
        <p:txBody>
          <a:bodyPr vert="horz" wrap="square" lIns="91440" tIns="45720" rIns="91440" bIns="45720" anchor="ctr" anchorCtr="0" compatLnSpc="1"/>
          <a:lstStyle/>
          <a:p>
            <a:pPr algn="r">
              <a:defRPr sz="1800" b="0" i="0" u="none" strike="noStrike" kern="0" cap="none" spc="0" baseline="0">
                <a:solidFill>
                  <a:srgbClr val="000000"/>
                </a:solidFill>
                <a:uFillTx/>
              </a:defRPr>
            </a:pPr>
            <a:endParaRPr lang="en-US" sz="1200" dirty="0">
              <a:solidFill>
                <a:srgbClr val="898989"/>
              </a:solidFill>
              <a:latin typeface="Calibri"/>
              <a:ea typeface=""/>
              <a:cs typeface=""/>
            </a:endParaRPr>
          </a:p>
        </p:txBody>
      </p:sp>
    </p:spTree>
    <p:extLst>
      <p:ext uri="{BB962C8B-B14F-4D97-AF65-F5344CB8AC3E}">
        <p14:creationId xmlns:p14="http://schemas.microsoft.com/office/powerpoint/2010/main" val="1194386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524000" y="1"/>
            <a:ext cx="9144000" cy="961921"/>
          </a:xfrm>
          <a:prstGeom prst="rect">
            <a:avLst/>
          </a:prstGeom>
          <a:noFill/>
          <a:ln>
            <a:noFill/>
          </a:ln>
        </p:spPr>
        <p:txBody>
          <a:bodyPr vert="horz" wrap="square" lIns="92162" tIns="46076" rIns="92162" bIns="46076" anchor="ctr" anchorCtr="0" compatLnSpc="1"/>
          <a:lstStyle/>
          <a:p>
            <a:pPr algn="ctr">
              <a:lnSpc>
                <a:spcPct val="7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dirty="0">
                <a:solidFill>
                  <a:srgbClr val="336699"/>
                </a:solidFill>
                <a:effectLst>
                  <a:outerShdw dist="17962" dir="2700000">
                    <a:srgbClr val="000000"/>
                  </a:outerShdw>
                </a:effectLst>
                <a:latin typeface="Times New Roman" pitchFamily="18" charset="0"/>
                <a:cs typeface="Times New Roman" pitchFamily="18" charset="0"/>
              </a:rPr>
              <a:t>Architecture</a:t>
            </a:r>
            <a:endParaRPr lang="en-US" sz="3600" b="1" dirty="0">
              <a:solidFill>
                <a:srgbClr val="2F5597"/>
              </a:solidFill>
              <a:effectLst>
                <a:outerShdw dist="17962" dir="2700000">
                  <a:srgbClr val="000000"/>
                </a:outerShdw>
              </a:effectLst>
              <a:latin typeface="Times New Roman" pitchFamily="18" charset="0"/>
              <a:ea typeface=""/>
              <a:cs typeface="Times New Roman" pitchFamily="18" charset="0"/>
            </a:endParaRPr>
          </a:p>
        </p:txBody>
      </p:sp>
      <p:sp>
        <p:nvSpPr>
          <p:cNvPr id="8" name="Slide Number Placeholder 7"/>
          <p:cNvSpPr>
            <a:spLocks noGrp="1"/>
          </p:cNvSpPr>
          <p:nvPr>
            <p:ph type="sldNum" sz="quarter" idx="4294967295"/>
          </p:nvPr>
        </p:nvSpPr>
        <p:spPr>
          <a:xfrm>
            <a:off x="9552384" y="6270772"/>
            <a:ext cx="2057400" cy="365129"/>
          </a:xfrm>
          <a:prstGeom prst="rect">
            <a:avLst/>
          </a:prstGeom>
        </p:spPr>
        <p:txBody>
          <a:bodyPr/>
          <a:lstStyle/>
          <a:p>
            <a:pPr lvl="0"/>
            <a:fld id="{041546D6-25D2-4E08-B705-3CDDCADBC19E}" type="slidenum">
              <a:rPr lang="en-US" smtClean="0"/>
              <a:pPr lvl="0"/>
              <a:t>9</a:t>
            </a:fld>
            <a:endParaRPr lang="en-US" dirty="0"/>
          </a:p>
        </p:txBody>
      </p:sp>
      <p:pic>
        <p:nvPicPr>
          <p:cNvPr id="3" name="Picture 2">
            <a:extLst>
              <a:ext uri="{FF2B5EF4-FFF2-40B4-BE49-F238E27FC236}">
                <a16:creationId xmlns:a16="http://schemas.microsoft.com/office/drawing/2014/main" id="{9186B09A-5216-538F-2782-22EA95BB84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000" y="838200"/>
            <a:ext cx="6123384" cy="599948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30519"/>
            <a:ext cx="11211426" cy="1143000"/>
          </a:xfrm>
        </p:spPr>
        <p:txBody>
          <a:bodyPr>
            <a:noAutofit/>
          </a:bodyPr>
          <a:lstStyle/>
          <a:p>
            <a:pP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600" b="1" dirty="0">
                <a:solidFill>
                  <a:srgbClr val="336699"/>
                </a:solidFill>
                <a:effectLst>
                  <a:outerShdw dist="17962" dir="2700000">
                    <a:srgbClr val="000000"/>
                  </a:outerShdw>
                </a:effectLst>
                <a:latin typeface="Times New Roman" pitchFamily="18" charset="0"/>
                <a:ea typeface="+mn-ea"/>
                <a:cs typeface="Times New Roman" pitchFamily="18" charset="0"/>
              </a:rPr>
              <a:t>Algorithm/Mathematical Model</a:t>
            </a:r>
          </a:p>
        </p:txBody>
      </p:sp>
      <p:sp>
        <p:nvSpPr>
          <p:cNvPr id="5" name="Slide Number Placeholder 4"/>
          <p:cNvSpPr>
            <a:spLocks noGrp="1"/>
          </p:cNvSpPr>
          <p:nvPr>
            <p:ph type="sldNum" sz="quarter" idx="4294967295"/>
          </p:nvPr>
        </p:nvSpPr>
        <p:spPr>
          <a:xfrm>
            <a:off x="9525000" y="6356352"/>
            <a:ext cx="2057400" cy="365129"/>
          </a:xfrm>
          <a:prstGeom prst="rect">
            <a:avLst/>
          </a:prstGeom>
        </p:spPr>
        <p:txBody>
          <a:bodyPr/>
          <a:lstStyle/>
          <a:p>
            <a:pPr lvl="0"/>
            <a:fld id="{2DF5A6E7-1195-45F5-A83B-AE249ED362FB}" type="slidenum">
              <a:rPr lang="en-US" smtClean="0"/>
              <a:pPr lvl="0"/>
              <a:t>10</a:t>
            </a:fld>
            <a:endParaRPr lang="en-US" dirty="0"/>
          </a:p>
        </p:txBody>
      </p:sp>
      <p:sp>
        <p:nvSpPr>
          <p:cNvPr id="102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9" name="Rectangle 5"/>
          <p:cNvSpPr>
            <a:spLocks noChangeArrowheads="1"/>
          </p:cNvSpPr>
          <p:nvPr/>
        </p:nvSpPr>
        <p:spPr bwMode="auto">
          <a:xfrm>
            <a:off x="1524001" y="805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tabLst>
                <a:tab pos="4705350" algn="l"/>
              </a:tabLst>
            </a:pPr>
            <a:endParaRPr lang="en-US">
              <a:latin typeface="Arial" pitchFamily="34" charset="0"/>
              <a:cs typeface="Arial" pitchFamily="34" charset="0"/>
            </a:endParaRPr>
          </a:p>
        </p:txBody>
      </p:sp>
      <p:sp>
        <p:nvSpPr>
          <p:cNvPr id="1031" name="Rectangle 7"/>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2" name="Rectangle 8"/>
          <p:cNvSpPr>
            <a:spLocks noChangeArrowheads="1"/>
          </p:cNvSpPr>
          <p:nvPr/>
        </p:nvSpPr>
        <p:spPr bwMode="auto">
          <a:xfrm>
            <a:off x="1524001" y="112978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sp>
        <p:nvSpPr>
          <p:cNvPr id="1034" name="Rectangle 10"/>
          <p:cNvSpPr>
            <a:spLocks noChangeArrowheads="1"/>
          </p:cNvSpPr>
          <p:nvPr/>
        </p:nvSpPr>
        <p:spPr bwMode="auto">
          <a:xfrm>
            <a:off x="1524001"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5" name="Rectangle 11"/>
          <p:cNvSpPr>
            <a:spLocks noChangeArrowheads="1"/>
          </p:cNvSpPr>
          <p:nvPr/>
        </p:nvSpPr>
        <p:spPr bwMode="auto">
          <a:xfrm>
            <a:off x="1524001" y="567809"/>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tabLst>
                <a:tab pos="4705350" algn="l"/>
              </a:tabLst>
            </a:pPr>
            <a:endParaRPr lang="en-US">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1E9A9F1-E7B6-15AD-0D6C-6978F4FAE91C}"/>
                  </a:ext>
                </a:extLst>
              </p:cNvPr>
              <p:cNvSpPr txBox="1"/>
              <p:nvPr/>
            </p:nvSpPr>
            <p:spPr>
              <a:xfrm>
                <a:off x="1066800" y="1186934"/>
                <a:ext cx="10363200" cy="5570756"/>
              </a:xfrm>
              <a:prstGeom prst="rect">
                <a:avLst/>
              </a:prstGeom>
              <a:noFill/>
            </p:spPr>
            <p:txBody>
              <a:bodyPr wrap="square">
                <a:spAutoFit/>
              </a:bodyPr>
              <a:lstStyle/>
              <a:p>
                <a:pPr marL="342900" lvl="0" indent="-342900">
                  <a:buFont typeface="Arial" panose="020B0604020202020204" pitchFamily="34" charset="0"/>
                  <a:buChar char="•"/>
                </a:pPr>
                <a:r>
                  <a:rPr lang="en-IN" sz="2000" b="1" dirty="0"/>
                  <a:t>Frontend:</a:t>
                </a:r>
                <a:r>
                  <a:rPr lang="en-IN" sz="2000" dirty="0"/>
                  <a:t> Lightweight HTML5, CSS3, and Vanilla JavaScript </a:t>
                </a:r>
                <a:r>
                  <a:rPr lang="en-IN" sz="2000" dirty="0" err="1"/>
                  <a:t>glassmorphic</a:t>
                </a:r>
                <a:r>
                  <a:rPr lang="en-IN" sz="2000" dirty="0"/>
                  <a:t> dashboard communicating via REST API JSON payloads, featuring court-paper print styling.</a:t>
                </a:r>
              </a:p>
              <a:p>
                <a:pPr marL="342900" lvl="0" indent="-342900">
                  <a:buFont typeface="Arial" panose="020B0604020202020204" pitchFamily="34" charset="0"/>
                  <a:buChar char="•"/>
                </a:pPr>
                <a:r>
                  <a:rPr lang="en-IN" sz="2000" b="1" dirty="0"/>
                  <a:t>Backend Application: </a:t>
                </a:r>
                <a:r>
                  <a:rPr lang="en-IN" sz="2000" dirty="0"/>
                  <a:t>Asynchronous Python 3.11 </a:t>
                </a:r>
                <a:r>
                  <a:rPr lang="en-IN" sz="2000" dirty="0" err="1"/>
                  <a:t>FastAPI</a:t>
                </a:r>
                <a:r>
                  <a:rPr lang="en-IN" sz="2000" dirty="0"/>
                  <a:t> server handling non-blocking API routing, data validation via </a:t>
                </a:r>
                <a:r>
                  <a:rPr lang="en-IN" sz="2000" dirty="0" err="1"/>
                  <a:t>Pydantic</a:t>
                </a:r>
                <a:r>
                  <a:rPr lang="en-IN" sz="2000" dirty="0"/>
                  <a:t>, and local database sessions.</a:t>
                </a:r>
              </a:p>
              <a:p>
                <a:pPr marL="342900" lvl="0" indent="-342900">
                  <a:buFont typeface="Arial" panose="020B0604020202020204" pitchFamily="34" charset="0"/>
                  <a:buChar char="•"/>
                </a:pPr>
                <a:r>
                  <a:rPr lang="en-IN" sz="2000" b="1" dirty="0"/>
                  <a:t>Multi-Agent </a:t>
                </a:r>
                <a:r>
                  <a:rPr lang="en-IN" sz="2000" b="1" dirty="0" err="1"/>
                  <a:t>Orchestrator</a:t>
                </a:r>
                <a:r>
                  <a:rPr lang="en-IN" dirty="0" err="1"/>
                  <a:t>LangGraph</a:t>
                </a:r>
                <a:r>
                  <a:rPr lang="en-IN" dirty="0"/>
                  <a:t> Directed Acyclic Graph (DAG) for stateful multi-stage workflows (Routing: In-Memory Ingestion </a:t>
                </a:r>
                <a14:m>
                  <m:oMath xmlns:m="http://schemas.openxmlformats.org/officeDocument/2006/math">
                    <m:r>
                      <a:rPr lang="en-IN">
                        <a:latin typeface="Cambria Math" panose="02040503050406030204" pitchFamily="18" charset="0"/>
                      </a:rPr>
                      <m:t>→</m:t>
                    </m:r>
                  </m:oMath>
                </a14:m>
                <a:r>
                  <a:rPr lang="en-IN" dirty="0"/>
                  <a:t>Entity Extraction </a:t>
                </a:r>
                <a14:m>
                  <m:oMath xmlns:m="http://schemas.openxmlformats.org/officeDocument/2006/math">
                    <m:r>
                      <a:rPr lang="en-IN">
                        <a:latin typeface="Cambria Math" panose="02040503050406030204" pitchFamily="18" charset="0"/>
                      </a:rPr>
                      <m:t>→</m:t>
                    </m:r>
                  </m:oMath>
                </a14:m>
                <a:r>
                  <a:rPr lang="en-IN" dirty="0"/>
                  <a:t>Parallel Tri-Modal Retrieval </a:t>
                </a:r>
                <a14:m>
                  <m:oMath xmlns:m="http://schemas.openxmlformats.org/officeDocument/2006/math">
                    <m:r>
                      <a:rPr lang="en-IN">
                        <a:latin typeface="Cambria Math" panose="02040503050406030204" pitchFamily="18" charset="0"/>
                      </a:rPr>
                      <m:t>→</m:t>
                    </m:r>
                  </m:oMath>
                </a14:m>
                <a:r>
                  <a:rPr lang="en-IN" dirty="0"/>
                  <a:t>Synthesis </a:t>
                </a:r>
                <a14:m>
                  <m:oMath xmlns:m="http://schemas.openxmlformats.org/officeDocument/2006/math">
                    <m:r>
                      <a:rPr lang="en-IN">
                        <a:latin typeface="Cambria Math" panose="02040503050406030204" pitchFamily="18" charset="0"/>
                      </a:rPr>
                      <m:t>→</m:t>
                    </m:r>
                  </m:oMath>
                </a14:m>
                <a:r>
                  <a:rPr lang="en-IN" dirty="0"/>
                  <a:t>Citation Verification Loop).</a:t>
                </a:r>
              </a:p>
              <a:p>
                <a:pPr marL="342900" lvl="0" indent="-342900">
                  <a:buFont typeface="Arial" panose="020B0604020202020204" pitchFamily="34" charset="0"/>
                  <a:buChar char="•"/>
                </a:pPr>
                <a:r>
                  <a:rPr lang="en-IN" sz="2000" b="1" dirty="0"/>
                  <a:t>Data Ingestion &amp; AI Engine:</a:t>
                </a:r>
                <a:endParaRPr lang="en-IN" sz="2000" dirty="0"/>
              </a:p>
              <a:p>
                <a:pPr marL="742950" lvl="1" indent="-285750">
                  <a:buFont typeface="Arial" panose="020B0604020202020204" pitchFamily="34" charset="0"/>
                  <a:buChar char="•"/>
                </a:pPr>
                <a:r>
                  <a:rPr lang="en-IN" sz="2000" b="1" dirty="0"/>
                  <a:t>Vector Database:</a:t>
                </a:r>
                <a:r>
                  <a:rPr lang="en-IN" sz="2000" dirty="0"/>
                  <a:t> </a:t>
                </a:r>
                <a:r>
                  <a:rPr lang="en-IN" sz="2000" dirty="0" err="1"/>
                  <a:t>Qdrant</a:t>
                </a:r>
                <a:r>
                  <a:rPr lang="en-IN" sz="2000" dirty="0"/>
                  <a:t> instance with local disk fallback (</a:t>
                </a:r>
                <a:r>
                  <a:rPr lang="en-IN" dirty="0"/>
                  <a:t>datasets/</a:t>
                </a:r>
                <a:r>
                  <a:rPr lang="en-IN" dirty="0" err="1"/>
                  <a:t>qdrant_local_db</a:t>
                </a:r>
                <a:r>
                  <a:rPr lang="en-IN" sz="2000" dirty="0"/>
                  <a:t>), managing isolated collections (</a:t>
                </a:r>
                <a:r>
                  <a:rPr lang="en-IN" dirty="0" err="1"/>
                  <a:t>statutes_collection</a:t>
                </a:r>
                <a:r>
                  <a:rPr lang="en-IN" sz="2000" dirty="0"/>
                  <a:t> and </a:t>
                </a:r>
                <a:r>
                  <a:rPr lang="en-IN" dirty="0" err="1"/>
                  <a:t>cases_collection</a:t>
                </a:r>
                <a:r>
                  <a:rPr lang="en-IN" sz="2000" dirty="0"/>
                  <a:t>) using Cosine distance metrics.</a:t>
                </a:r>
              </a:p>
              <a:p>
                <a:pPr marL="742950" lvl="1" indent="-285750">
                  <a:buFont typeface="Arial" panose="020B0604020202020204" pitchFamily="34" charset="0"/>
                  <a:buChar char="•"/>
                </a:pPr>
                <a:r>
                  <a:rPr lang="en-IN" sz="2000" b="1" dirty="0"/>
                  <a:t>Metadata Storage:</a:t>
                </a:r>
                <a:r>
                  <a:rPr lang="en-IN" sz="2000" dirty="0"/>
                  <a:t> MongoDB (NoSQL) for document tracking, raw statutes, and criminal case master files (</a:t>
                </a:r>
                <a:r>
                  <a:rPr lang="en-IN" dirty="0" err="1"/>
                  <a:t>statutes_master</a:t>
                </a:r>
                <a:r>
                  <a:rPr lang="en-IN" sz="2000" dirty="0"/>
                  <a:t>, </a:t>
                </a:r>
                <a:r>
                  <a:rPr lang="en-IN" dirty="0" err="1"/>
                  <a:t>criminal_cases_master</a:t>
                </a:r>
                <a:r>
                  <a:rPr lang="en-IN" sz="2000" dirty="0"/>
                  <a:t>).</a:t>
                </a:r>
              </a:p>
              <a:p>
                <a:pPr marL="742950" lvl="1" indent="-285750">
                  <a:buFont typeface="Arial" panose="020B0604020202020204" pitchFamily="34" charset="0"/>
                  <a:buChar char="•"/>
                </a:pPr>
                <a:r>
                  <a:rPr lang="en-IN" sz="2000" b="1" dirty="0"/>
                  <a:t>Embedding Algorithm:</a:t>
                </a:r>
                <a:r>
                  <a:rPr lang="en-IN" sz="2000" dirty="0"/>
                  <a:t> </a:t>
                </a:r>
                <a:r>
                  <a:rPr lang="en-IN" sz="2000" dirty="0" err="1"/>
                  <a:t>HuggingFace</a:t>
                </a:r>
                <a:r>
                  <a:rPr lang="en-IN" sz="2000" dirty="0"/>
                  <a:t> </a:t>
                </a:r>
                <a:r>
                  <a:rPr lang="en-IN" sz="2000" dirty="0">
                    <a:latin typeface="+mn-lt"/>
                  </a:rPr>
                  <a:t>sentence-transformers</a:t>
                </a:r>
                <a:r>
                  <a:rPr lang="en-IN" sz="2000" dirty="0"/>
                  <a:t> utilizing batched GPU ingestion to generate 384-dimensional vectors.</a:t>
                </a:r>
              </a:p>
              <a:p>
                <a:pPr marL="742950" lvl="1" indent="-285750">
                  <a:buFont typeface="Arial" panose="020B0604020202020204" pitchFamily="34" charset="0"/>
                  <a:buChar char="•"/>
                </a:pPr>
                <a:r>
                  <a:rPr lang="en-IN" sz="2000" b="1" dirty="0"/>
                  <a:t>Custom Machine Learning Retriever:</a:t>
                </a:r>
                <a:r>
                  <a:rPr lang="en-IN" sz="2000" dirty="0"/>
                  <a:t> Offline-trained Scikit-learn models (K-Nearest </a:t>
                </a:r>
                <a:r>
                  <a:rPr lang="en-IN" sz="2000" dirty="0" err="1"/>
                  <a:t>Neighbors</a:t>
                </a:r>
                <a:r>
                  <a:rPr lang="en-IN" sz="2000" dirty="0"/>
                  <a:t> for MO similarity and Random Forest with 100 trees for recidivism risk scoring) serialized as </a:t>
                </a:r>
                <a:r>
                  <a:rPr lang="en-IN" dirty="0"/>
                  <a:t>.</a:t>
                </a:r>
                <a:r>
                  <a:rPr lang="en-IN" dirty="0" err="1"/>
                  <a:t>joblib</a:t>
                </a:r>
                <a:r>
                  <a:rPr lang="en-IN" sz="2000" dirty="0"/>
                  <a:t> weights.</a:t>
                </a:r>
              </a:p>
            </p:txBody>
          </p:sp>
        </mc:Choice>
        <mc:Fallback xmlns="">
          <p:sp>
            <p:nvSpPr>
              <p:cNvPr id="4" name="TextBox 3">
                <a:extLst>
                  <a:ext uri="{FF2B5EF4-FFF2-40B4-BE49-F238E27FC236}">
                    <a16:creationId xmlns:a16="http://schemas.microsoft.com/office/drawing/2014/main" id="{51E9A9F1-E7B6-15AD-0D6C-6978F4FAE91C}"/>
                  </a:ext>
                </a:extLst>
              </p:cNvPr>
              <p:cNvSpPr txBox="1">
                <a:spLocks noRot="1" noChangeAspect="1" noMove="1" noResize="1" noEditPoints="1" noAdjustHandles="1" noChangeArrowheads="1" noChangeShapeType="1" noTextEdit="1"/>
              </p:cNvSpPr>
              <p:nvPr/>
            </p:nvSpPr>
            <p:spPr>
              <a:xfrm>
                <a:off x="1066800" y="1186934"/>
                <a:ext cx="10363200" cy="5570756"/>
              </a:xfrm>
              <a:prstGeom prst="rect">
                <a:avLst/>
              </a:prstGeom>
              <a:blipFill>
                <a:blip r:embed="rId2"/>
                <a:stretch>
                  <a:fillRect l="-529" t="-656" r="-882" b="-985"/>
                </a:stretch>
              </a:blipFill>
            </p:spPr>
            <p:txBody>
              <a:bodyPr/>
              <a:lstStyle/>
              <a:p>
                <a:r>
                  <a:rPr lang="en-IN">
                    <a:noFill/>
                  </a:rPr>
                  <a:t> </a:t>
                </a:r>
              </a:p>
            </p:txBody>
          </p:sp>
        </mc:Fallback>
      </mc:AlternateContent>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969FDB-FE64-2293-80F0-766445D2AA0F}"/>
              </a:ext>
            </a:extLst>
          </p:cNvPr>
          <p:cNvSpPr>
            <a:spLocks noGrp="1"/>
          </p:cNvSpPr>
          <p:nvPr>
            <p:ph type="title"/>
          </p:nvPr>
        </p:nvSpPr>
        <p:spPr/>
        <p:txBody>
          <a:bodyPr/>
          <a:lstStyle/>
          <a:p>
            <a:r>
              <a:rPr lang="en-US" b="1" dirty="0">
                <a:solidFill>
                  <a:srgbClr val="336699"/>
                </a:solidFill>
                <a:effectLst>
                  <a:outerShdw dist="17962" dir="2700000">
                    <a:srgbClr val="000000"/>
                  </a:outerShdw>
                </a:effectLst>
                <a:latin typeface="Times New Roman" pitchFamily="18" charset="0"/>
                <a:cs typeface="Times New Roman" pitchFamily="18" charset="0"/>
              </a:rPr>
              <a:t>References</a:t>
            </a:r>
            <a:endParaRPr lang="en-IN" dirty="0"/>
          </a:p>
        </p:txBody>
      </p:sp>
      <p:sp>
        <p:nvSpPr>
          <p:cNvPr id="5" name="Content Placeholder 4">
            <a:extLst>
              <a:ext uri="{FF2B5EF4-FFF2-40B4-BE49-F238E27FC236}">
                <a16:creationId xmlns:a16="http://schemas.microsoft.com/office/drawing/2014/main" id="{FF9664CF-A404-5330-778E-50E933529224}"/>
              </a:ext>
            </a:extLst>
          </p:cNvPr>
          <p:cNvSpPr>
            <a:spLocks noGrp="1"/>
          </p:cNvSpPr>
          <p:nvPr>
            <p:ph idx="1"/>
          </p:nvPr>
        </p:nvSpPr>
        <p:spPr/>
        <p:txBody>
          <a:bodyPr>
            <a:normAutofit fontScale="55000" lnSpcReduction="20000"/>
          </a:bodyPr>
          <a:lstStyle/>
          <a:p>
            <a:pPr marL="0" indent="0">
              <a:buNone/>
            </a:pPr>
            <a:r>
              <a:rPr lang="en-IN" b="1" dirty="0"/>
              <a:t>1. Indian Legal NLP &amp; Datasets - </a:t>
            </a:r>
            <a:r>
              <a:rPr lang="en-IN" dirty="0"/>
              <a:t>These papers justify the focus on the Indian legal system and validate the use of our specific datasets (ILDC, Bail Judgments).</a:t>
            </a:r>
          </a:p>
          <a:p>
            <a:pPr lvl="0"/>
            <a:r>
              <a:rPr lang="en-IN" b="1" dirty="0"/>
              <a:t>Paul, S., Mandal, A., Goyal, P., &amp; Ghosh, S. (2022).</a:t>
            </a:r>
            <a:r>
              <a:rPr lang="en-IN" dirty="0"/>
              <a:t> </a:t>
            </a:r>
            <a:r>
              <a:rPr lang="en-IN" i="1" dirty="0"/>
              <a:t>Pre-trained Language Models for the Legal Domain: A Case Study on Indian Law (</a:t>
            </a:r>
            <a:r>
              <a:rPr lang="en-IN" i="1" dirty="0" err="1"/>
              <a:t>InLegalBERT</a:t>
            </a:r>
            <a:r>
              <a:rPr lang="en-IN" i="1" dirty="0"/>
              <a:t>).</a:t>
            </a:r>
            <a:endParaRPr lang="en-IN" dirty="0"/>
          </a:p>
          <a:p>
            <a:pPr lvl="1"/>
            <a:r>
              <a:rPr lang="en-IN" b="1" dirty="0"/>
              <a:t>Focus:</a:t>
            </a:r>
            <a:r>
              <a:rPr lang="en-IN" dirty="0"/>
              <a:t> Discusses the necessity of domain-specific models for Indian law and introduces </a:t>
            </a:r>
            <a:r>
              <a:rPr lang="en-IN" dirty="0" err="1"/>
              <a:t>InLegalBERT</a:t>
            </a:r>
            <a:r>
              <a:rPr lang="en-IN" dirty="0"/>
              <a:t>.</a:t>
            </a:r>
          </a:p>
          <a:p>
            <a:pPr lvl="1"/>
            <a:r>
              <a:rPr lang="en-IN" b="1" dirty="0"/>
              <a:t>Link:</a:t>
            </a:r>
            <a:r>
              <a:rPr lang="en-IN" dirty="0"/>
              <a:t> </a:t>
            </a:r>
            <a:r>
              <a:rPr lang="en-IN" dirty="0">
                <a:hlinkClick r:id="rId3"/>
              </a:rPr>
              <a:t>https://arxiv.org/abs/2209.06049</a:t>
            </a:r>
            <a:endParaRPr lang="en-IN" dirty="0"/>
          </a:p>
          <a:p>
            <a:pPr lvl="0"/>
            <a:r>
              <a:rPr lang="en-IN" b="1" dirty="0"/>
              <a:t>Malik, V., et al. (2021).</a:t>
            </a:r>
            <a:r>
              <a:rPr lang="en-IN" dirty="0"/>
              <a:t> </a:t>
            </a:r>
            <a:r>
              <a:rPr lang="en-IN" i="1" dirty="0"/>
              <a:t>ILDC for CJPE: Indian Legal Documents Corpus for Court Judgment Prediction and Explanation.</a:t>
            </a:r>
            <a:endParaRPr lang="en-IN" dirty="0"/>
          </a:p>
          <a:p>
            <a:pPr lvl="1"/>
            <a:r>
              <a:rPr lang="en-IN" b="1" dirty="0"/>
              <a:t>Focus:</a:t>
            </a:r>
            <a:r>
              <a:rPr lang="en-IN" dirty="0"/>
              <a:t> Introduces the ILDC dataset you are using for historical precedents and case mapping.</a:t>
            </a:r>
          </a:p>
          <a:p>
            <a:pPr lvl="1"/>
            <a:r>
              <a:rPr lang="en-IN" b="1" dirty="0"/>
              <a:t>Link:</a:t>
            </a:r>
            <a:r>
              <a:rPr lang="en-IN" dirty="0"/>
              <a:t> </a:t>
            </a:r>
            <a:r>
              <a:rPr lang="en-IN" dirty="0">
                <a:hlinkClick r:id="rId4"/>
              </a:rPr>
              <a:t>https://aclanthology.org/2021.acl-long.313/</a:t>
            </a:r>
            <a:endParaRPr lang="en-IN" dirty="0"/>
          </a:p>
          <a:p>
            <a:pPr lvl="0"/>
            <a:r>
              <a:rPr lang="en-IN" b="1" dirty="0"/>
              <a:t>Kalamkar, S., et al. (2022).</a:t>
            </a:r>
            <a:r>
              <a:rPr lang="en-IN" dirty="0"/>
              <a:t> </a:t>
            </a:r>
            <a:r>
              <a:rPr lang="en-IN" i="1" dirty="0"/>
              <a:t>Named Entity Recognition in Indian Legal Judgments.</a:t>
            </a:r>
            <a:endParaRPr lang="en-IN" dirty="0"/>
          </a:p>
          <a:p>
            <a:pPr lvl="1"/>
            <a:r>
              <a:rPr lang="en-IN" b="1" dirty="0"/>
              <a:t>Focus:</a:t>
            </a:r>
            <a:r>
              <a:rPr lang="en-IN" dirty="0"/>
              <a:t> Research on extracting specific entities (laws, locations, dates) from unstructured Indian legal text (similar to your OCR extraction node).</a:t>
            </a:r>
          </a:p>
          <a:p>
            <a:pPr lvl="1"/>
            <a:r>
              <a:rPr lang="en-IN" b="1" dirty="0"/>
              <a:t>Link:</a:t>
            </a:r>
            <a:r>
              <a:rPr lang="en-IN" dirty="0"/>
              <a:t> </a:t>
            </a:r>
            <a:r>
              <a:rPr lang="en-IN" dirty="0">
                <a:hlinkClick r:id="rId5"/>
              </a:rPr>
              <a:t>https://arxiv.org/abs/2211.03442</a:t>
            </a:r>
            <a:endParaRPr lang="en-IN" dirty="0"/>
          </a:p>
          <a:p>
            <a:pPr lvl="0"/>
            <a:r>
              <a:rPr lang="en-IN" b="1" dirty="0"/>
              <a:t>Bhattacharya, P., et al. (2019).</a:t>
            </a:r>
            <a:r>
              <a:rPr lang="en-IN" dirty="0"/>
              <a:t> </a:t>
            </a:r>
            <a:r>
              <a:rPr lang="en-IN" i="1" dirty="0"/>
              <a:t>Identification of Rhetorical Roles of Sentences in Indian Legal Judgments.</a:t>
            </a:r>
            <a:endParaRPr lang="en-IN" dirty="0"/>
          </a:p>
          <a:p>
            <a:pPr lvl="1"/>
            <a:r>
              <a:rPr lang="en-IN" b="1" dirty="0"/>
              <a:t>Focus:</a:t>
            </a:r>
            <a:r>
              <a:rPr lang="en-IN" dirty="0"/>
              <a:t> Explains how breaking legal text into functional chunks (Facts, Arguments, Rulings) improves NLP retrieval.</a:t>
            </a:r>
          </a:p>
          <a:p>
            <a:pPr lvl="1"/>
            <a:r>
              <a:rPr lang="en-IN" b="1" dirty="0"/>
              <a:t>Link:</a:t>
            </a:r>
            <a:r>
              <a:rPr lang="en-IN" dirty="0"/>
              <a:t> </a:t>
            </a:r>
            <a:r>
              <a:rPr lang="en-IN" dirty="0">
                <a:hlinkClick r:id="rId6"/>
              </a:rPr>
              <a:t>https://aclanthology.org/W19-2212/</a:t>
            </a:r>
            <a:endParaRPr lang="en-IN" dirty="0"/>
          </a:p>
          <a:p>
            <a:pPr marL="0" indent="0">
              <a:buNone/>
            </a:pPr>
            <a:endParaRPr lang="en-IN" dirty="0"/>
          </a:p>
        </p:txBody>
      </p:sp>
      <p:sp>
        <p:nvSpPr>
          <p:cNvPr id="8" name="Slide Number Placeholder 7"/>
          <p:cNvSpPr>
            <a:spLocks noGrp="1"/>
          </p:cNvSpPr>
          <p:nvPr>
            <p:ph type="sldNum" sz="quarter" idx="12"/>
          </p:nvPr>
        </p:nvSpPr>
        <p:spPr>
          <a:prstGeom prst="rect">
            <a:avLst/>
          </a:prstGeom>
        </p:spPr>
        <p:txBody>
          <a:bodyPr/>
          <a:lstStyle/>
          <a:p>
            <a:pPr lvl="0"/>
            <a:fld id="{041546D6-25D2-4E08-B705-3CDDCADBC19E}" type="slidenum">
              <a:rPr lang="en-US" smtClean="0"/>
              <a:pPr lvl="0"/>
              <a:t>11</a:t>
            </a:fld>
            <a:endParaRPr lang="en-US"/>
          </a:p>
        </p:txBody>
      </p:sp>
    </p:spTree>
    <p:extLst>
      <p:ext uri="{BB962C8B-B14F-4D97-AF65-F5344CB8AC3E}">
        <p14:creationId xmlns:p14="http://schemas.microsoft.com/office/powerpoint/2010/main" val="207404437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339E-1A40-0332-E2A2-606805C03031}"/>
              </a:ext>
            </a:extLst>
          </p:cNvPr>
          <p:cNvSpPr>
            <a:spLocks noGrp="1"/>
          </p:cNvSpPr>
          <p:nvPr>
            <p:ph type="title"/>
          </p:nvPr>
        </p:nvSpPr>
        <p:spPr/>
        <p:txBody>
          <a:bodyPr/>
          <a:lstStyle/>
          <a:p>
            <a:r>
              <a:rPr lang="en-US" b="1" dirty="0">
                <a:solidFill>
                  <a:srgbClr val="336699"/>
                </a:solidFill>
                <a:effectLst>
                  <a:outerShdw dist="17962" dir="2700000">
                    <a:srgbClr val="000000"/>
                  </a:outerShdw>
                </a:effectLst>
                <a:latin typeface="Times New Roman" pitchFamily="18" charset="0"/>
                <a:cs typeface="Times New Roman" pitchFamily="18" charset="0"/>
              </a:rPr>
              <a:t>References</a:t>
            </a:r>
            <a:endParaRPr lang="en-IN" dirty="0"/>
          </a:p>
        </p:txBody>
      </p:sp>
      <p:sp>
        <p:nvSpPr>
          <p:cNvPr id="3" name="Content Placeholder 2">
            <a:extLst>
              <a:ext uri="{FF2B5EF4-FFF2-40B4-BE49-F238E27FC236}">
                <a16:creationId xmlns:a16="http://schemas.microsoft.com/office/drawing/2014/main" id="{FCD2B50B-0519-6BDB-9951-47EED6C40EB9}"/>
              </a:ext>
            </a:extLst>
          </p:cNvPr>
          <p:cNvSpPr>
            <a:spLocks noGrp="1"/>
          </p:cNvSpPr>
          <p:nvPr>
            <p:ph idx="1"/>
          </p:nvPr>
        </p:nvSpPr>
        <p:spPr/>
        <p:txBody>
          <a:bodyPr>
            <a:normAutofit fontScale="55000" lnSpcReduction="20000"/>
          </a:bodyPr>
          <a:lstStyle/>
          <a:p>
            <a:pPr marL="0" indent="0">
              <a:buNone/>
            </a:pPr>
            <a:r>
              <a:rPr lang="en-IN" b="1" dirty="0"/>
              <a:t>2. RAG, Semantic Search &amp; Vector Embeddings - </a:t>
            </a:r>
            <a:r>
              <a:rPr lang="en-IN" dirty="0"/>
              <a:t>These papers form the mathematical and architectural foundation of our </a:t>
            </a:r>
            <a:r>
              <a:rPr lang="en-IN" dirty="0" err="1"/>
              <a:t>Qdrant</a:t>
            </a:r>
            <a:r>
              <a:rPr lang="en-IN" dirty="0"/>
              <a:t> vector database and semantic retrieval logic.</a:t>
            </a:r>
          </a:p>
          <a:p>
            <a:pPr lvl="0"/>
            <a:r>
              <a:rPr lang="en-IN" b="1" dirty="0"/>
              <a:t>Lewis, P., et al. (2020).</a:t>
            </a:r>
            <a:r>
              <a:rPr lang="en-IN" dirty="0"/>
              <a:t> </a:t>
            </a:r>
            <a:r>
              <a:rPr lang="en-IN" i="1" dirty="0"/>
              <a:t>Retrieval-Augmented Generation for Knowledge-Intensive NLP Tasks.</a:t>
            </a:r>
            <a:endParaRPr lang="en-IN" dirty="0"/>
          </a:p>
          <a:p>
            <a:pPr lvl="1"/>
            <a:r>
              <a:rPr lang="en-IN" b="1" dirty="0"/>
              <a:t>Focus:</a:t>
            </a:r>
            <a:r>
              <a:rPr lang="en-IN" dirty="0"/>
              <a:t> The foundational paper that introduced the RAG architecture you are using to prevent AI hallucinations.</a:t>
            </a:r>
          </a:p>
          <a:p>
            <a:pPr lvl="1"/>
            <a:r>
              <a:rPr lang="en-IN" b="1" dirty="0"/>
              <a:t>Link:</a:t>
            </a:r>
            <a:r>
              <a:rPr lang="en-IN" dirty="0"/>
              <a:t> </a:t>
            </a:r>
            <a:r>
              <a:rPr lang="en-IN" dirty="0">
                <a:hlinkClick r:id="rId2"/>
              </a:rPr>
              <a:t>https://arxiv.org/abs/2005.11401</a:t>
            </a:r>
            <a:endParaRPr lang="en-IN" dirty="0"/>
          </a:p>
          <a:p>
            <a:pPr lvl="0"/>
            <a:r>
              <a:rPr lang="en-IN" b="1" dirty="0"/>
              <a:t>Reimers, N., &amp; </a:t>
            </a:r>
            <a:r>
              <a:rPr lang="en-IN" b="1" dirty="0" err="1"/>
              <a:t>Gurevych</a:t>
            </a:r>
            <a:r>
              <a:rPr lang="en-IN" b="1" dirty="0"/>
              <a:t>, I. (2019).</a:t>
            </a:r>
            <a:r>
              <a:rPr lang="en-IN" dirty="0"/>
              <a:t> </a:t>
            </a:r>
            <a:r>
              <a:rPr lang="en-IN" i="1" dirty="0"/>
              <a:t>Sentence-BERT: Sentence Embeddings using Siamese BERT-Networks.</a:t>
            </a:r>
            <a:endParaRPr lang="en-IN" dirty="0"/>
          </a:p>
          <a:p>
            <a:pPr lvl="1"/>
            <a:r>
              <a:rPr lang="en-IN" b="1" dirty="0"/>
              <a:t>Focus:</a:t>
            </a:r>
            <a:r>
              <a:rPr lang="en-IN" dirty="0"/>
              <a:t> The core algorithm behind the all-MiniLM-L6-v2 transformer model you are using to generate vectors.</a:t>
            </a:r>
          </a:p>
          <a:p>
            <a:pPr lvl="1"/>
            <a:r>
              <a:rPr lang="en-IN" b="1" dirty="0"/>
              <a:t>Link:</a:t>
            </a:r>
            <a:r>
              <a:rPr lang="en-IN" dirty="0"/>
              <a:t> </a:t>
            </a:r>
            <a:r>
              <a:rPr lang="en-IN" dirty="0">
                <a:hlinkClick r:id="rId3"/>
              </a:rPr>
              <a:t>https://arxiv.org/abs/1908.10084</a:t>
            </a:r>
            <a:endParaRPr lang="en-IN" dirty="0"/>
          </a:p>
          <a:p>
            <a:pPr lvl="0"/>
            <a:r>
              <a:rPr lang="en-IN" b="1" dirty="0"/>
              <a:t>Zhai, Y., et al. (2023).</a:t>
            </a:r>
            <a:r>
              <a:rPr lang="en-IN" dirty="0"/>
              <a:t> </a:t>
            </a:r>
            <a:r>
              <a:rPr lang="en-IN" i="1" dirty="0"/>
              <a:t>A Survey on Legal Case Retrieval.</a:t>
            </a:r>
            <a:endParaRPr lang="en-IN" dirty="0"/>
          </a:p>
          <a:p>
            <a:pPr lvl="1"/>
            <a:r>
              <a:rPr lang="en-IN" b="1" dirty="0"/>
              <a:t>Focus:</a:t>
            </a:r>
            <a:r>
              <a:rPr lang="en-IN" dirty="0"/>
              <a:t> A comprehensive overview of how algorithmic search is applied to retrieve highly relevant historical legal cases.</a:t>
            </a:r>
          </a:p>
          <a:p>
            <a:pPr lvl="1"/>
            <a:r>
              <a:rPr lang="en-IN" b="1" dirty="0"/>
              <a:t>Link:</a:t>
            </a:r>
            <a:r>
              <a:rPr lang="en-IN" dirty="0"/>
              <a:t> </a:t>
            </a:r>
            <a:r>
              <a:rPr lang="en-IN" dirty="0">
                <a:hlinkClick r:id="rId4"/>
              </a:rPr>
              <a:t>https://arxiv.org/abs/2311.12599</a:t>
            </a:r>
            <a:endParaRPr lang="en-IN" dirty="0"/>
          </a:p>
          <a:p>
            <a:pPr lvl="0"/>
            <a:r>
              <a:rPr lang="en-IN" b="1" dirty="0"/>
              <a:t>Chalkidis, I., et al. (2020).</a:t>
            </a:r>
            <a:r>
              <a:rPr lang="en-IN" dirty="0"/>
              <a:t> </a:t>
            </a:r>
            <a:r>
              <a:rPr lang="en-IN" i="1" dirty="0"/>
              <a:t>LEGAL-BERT: The Muppets straight out of Law School.</a:t>
            </a:r>
            <a:endParaRPr lang="en-IN" dirty="0"/>
          </a:p>
          <a:p>
            <a:pPr lvl="1"/>
            <a:r>
              <a:rPr lang="en-IN" b="1" dirty="0"/>
              <a:t>Focus:</a:t>
            </a:r>
            <a:r>
              <a:rPr lang="en-IN" dirty="0"/>
              <a:t> Demonstrates how fine-tuning base LLMs specifically on legal data vastly outperforms generic language models.</a:t>
            </a:r>
          </a:p>
          <a:p>
            <a:pPr lvl="1"/>
            <a:r>
              <a:rPr lang="en-IN" b="1" dirty="0"/>
              <a:t>Link:</a:t>
            </a:r>
            <a:r>
              <a:rPr lang="en-IN" dirty="0"/>
              <a:t> </a:t>
            </a:r>
            <a:r>
              <a:rPr lang="en-IN" dirty="0">
                <a:hlinkClick r:id="rId5"/>
              </a:rPr>
              <a:t>https://arxiv.org/abs/2010.02559</a:t>
            </a:r>
            <a:endParaRPr lang="en-IN" dirty="0"/>
          </a:p>
          <a:p>
            <a:endParaRPr lang="en-IN" dirty="0"/>
          </a:p>
        </p:txBody>
      </p:sp>
    </p:spTree>
    <p:extLst>
      <p:ext uri="{BB962C8B-B14F-4D97-AF65-F5344CB8AC3E}">
        <p14:creationId xmlns:p14="http://schemas.microsoft.com/office/powerpoint/2010/main" val="519531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614AA-0C9A-9C9E-1B33-B90AD937CA9F}"/>
              </a:ext>
            </a:extLst>
          </p:cNvPr>
          <p:cNvSpPr>
            <a:spLocks noGrp="1"/>
          </p:cNvSpPr>
          <p:nvPr>
            <p:ph type="title"/>
          </p:nvPr>
        </p:nvSpPr>
        <p:spPr/>
        <p:txBody>
          <a:bodyPr/>
          <a:lstStyle/>
          <a:p>
            <a:r>
              <a:rPr lang="en-US" b="1" dirty="0">
                <a:solidFill>
                  <a:srgbClr val="336699"/>
                </a:solidFill>
                <a:effectLst>
                  <a:outerShdw dist="17962" dir="2700000">
                    <a:srgbClr val="000000"/>
                  </a:outerShdw>
                </a:effectLst>
                <a:latin typeface="Times New Roman" pitchFamily="18" charset="0"/>
                <a:cs typeface="Times New Roman" pitchFamily="18" charset="0"/>
              </a:rPr>
              <a:t>References</a:t>
            </a:r>
            <a:endParaRPr lang="en-IN" dirty="0"/>
          </a:p>
        </p:txBody>
      </p:sp>
      <p:sp>
        <p:nvSpPr>
          <p:cNvPr id="3" name="Content Placeholder 2">
            <a:extLst>
              <a:ext uri="{FF2B5EF4-FFF2-40B4-BE49-F238E27FC236}">
                <a16:creationId xmlns:a16="http://schemas.microsoft.com/office/drawing/2014/main" id="{7AE5FA95-AEB3-82A2-F6D1-E8D958212C77}"/>
              </a:ext>
            </a:extLst>
          </p:cNvPr>
          <p:cNvSpPr>
            <a:spLocks noGrp="1"/>
          </p:cNvSpPr>
          <p:nvPr>
            <p:ph idx="1"/>
          </p:nvPr>
        </p:nvSpPr>
        <p:spPr/>
        <p:txBody>
          <a:bodyPr>
            <a:normAutofit fontScale="55000" lnSpcReduction="20000"/>
          </a:bodyPr>
          <a:lstStyle/>
          <a:p>
            <a:pPr marL="0" indent="0">
              <a:buNone/>
            </a:pPr>
            <a:r>
              <a:rPr lang="en-IN" b="1" dirty="0"/>
              <a:t>3. Legal LLMs &amp; Multi-Agent Orchestration - </a:t>
            </a:r>
            <a:r>
              <a:rPr lang="en-IN" dirty="0"/>
              <a:t>These papers support our generative synthesis, automated drafting, and stateful multi-agent workflow (</a:t>
            </a:r>
            <a:r>
              <a:rPr lang="en-IN" dirty="0" err="1"/>
              <a:t>LangGraph</a:t>
            </a:r>
            <a:r>
              <a:rPr lang="en-IN" dirty="0"/>
              <a:t>).</a:t>
            </a:r>
          </a:p>
          <a:p>
            <a:pPr lvl="0"/>
            <a:r>
              <a:rPr lang="en-IN" b="1" dirty="0"/>
              <a:t>Cui, J., et al. (2023).</a:t>
            </a:r>
            <a:r>
              <a:rPr lang="en-IN" dirty="0"/>
              <a:t> </a:t>
            </a:r>
            <a:r>
              <a:rPr lang="en-IN" i="1" dirty="0" err="1"/>
              <a:t>ChatLaw</a:t>
            </a:r>
            <a:r>
              <a:rPr lang="en-IN" i="1" dirty="0"/>
              <a:t>: Open-Source Legal Large Language Model with Integrated External Knowledge Bases.</a:t>
            </a:r>
            <a:endParaRPr lang="en-IN" dirty="0"/>
          </a:p>
          <a:p>
            <a:pPr lvl="1"/>
            <a:r>
              <a:rPr lang="en-IN" b="1" dirty="0"/>
              <a:t>Focus:</a:t>
            </a:r>
            <a:r>
              <a:rPr lang="en-IN" dirty="0"/>
              <a:t> Demonstrates an architecture very similar to Nyaya AI, combining a legal LLM with an external vector database for grounded answers.</a:t>
            </a:r>
          </a:p>
          <a:p>
            <a:pPr lvl="1"/>
            <a:r>
              <a:rPr lang="en-IN" b="1" dirty="0"/>
              <a:t>Link:</a:t>
            </a:r>
            <a:r>
              <a:rPr lang="en-IN" dirty="0"/>
              <a:t> </a:t>
            </a:r>
            <a:r>
              <a:rPr lang="en-IN" dirty="0">
                <a:hlinkClick r:id="rId2"/>
              </a:rPr>
              <a:t>https://arxiv.org/abs/2307.02017</a:t>
            </a:r>
            <a:endParaRPr lang="en-IN" dirty="0"/>
          </a:p>
          <a:p>
            <a:pPr lvl="0"/>
            <a:r>
              <a:rPr lang="en-IN" b="1" dirty="0"/>
              <a:t>Wu, S., et al. (2023).</a:t>
            </a:r>
            <a:r>
              <a:rPr lang="en-IN" dirty="0"/>
              <a:t> </a:t>
            </a:r>
            <a:r>
              <a:rPr lang="en-IN" i="1" dirty="0" err="1"/>
              <a:t>AutoGen</a:t>
            </a:r>
            <a:r>
              <a:rPr lang="en-IN" i="1" dirty="0"/>
              <a:t>: Enabling Next-Gen LLM Applications via Multi-Agent Conversation.</a:t>
            </a:r>
            <a:endParaRPr lang="en-IN" dirty="0"/>
          </a:p>
          <a:p>
            <a:pPr lvl="1"/>
            <a:r>
              <a:rPr lang="en-IN" b="1" dirty="0"/>
              <a:t>Focus:</a:t>
            </a:r>
            <a:r>
              <a:rPr lang="en-IN" dirty="0"/>
              <a:t> The academic foundation for your multi-agent architecture, where different AI nodes handle OCR, retrieval, and generation sequentially.</a:t>
            </a:r>
          </a:p>
          <a:p>
            <a:pPr lvl="1"/>
            <a:r>
              <a:rPr lang="en-IN" b="1" dirty="0"/>
              <a:t>Link:</a:t>
            </a:r>
            <a:r>
              <a:rPr lang="en-IN" dirty="0"/>
              <a:t> </a:t>
            </a:r>
            <a:r>
              <a:rPr lang="en-IN" dirty="0">
                <a:hlinkClick r:id="rId3"/>
              </a:rPr>
              <a:t>https://arxiv.org/abs/2308.08155</a:t>
            </a:r>
            <a:endParaRPr lang="en-IN" dirty="0"/>
          </a:p>
          <a:p>
            <a:pPr lvl="0"/>
            <a:r>
              <a:rPr lang="en-IN" b="1" dirty="0"/>
              <a:t>Guha, N., et al. (2023).</a:t>
            </a:r>
            <a:r>
              <a:rPr lang="en-IN" dirty="0"/>
              <a:t> </a:t>
            </a:r>
            <a:r>
              <a:rPr lang="en-IN" i="1" dirty="0" err="1"/>
              <a:t>LegalBench</a:t>
            </a:r>
            <a:r>
              <a:rPr lang="en-IN" i="1" dirty="0"/>
              <a:t>: A Collaboratively Built Benchmark for Measuring Legal Reasoning in Large Language Models.</a:t>
            </a:r>
            <a:endParaRPr lang="en-IN" dirty="0"/>
          </a:p>
          <a:p>
            <a:pPr lvl="1"/>
            <a:r>
              <a:rPr lang="en-IN" b="1" dirty="0"/>
              <a:t>Focus:</a:t>
            </a:r>
            <a:r>
              <a:rPr lang="en-IN" dirty="0"/>
              <a:t> Discusses how LLMs apply judicial reasoning, which justifies your system's evidentiary recommendation feature.</a:t>
            </a:r>
          </a:p>
          <a:p>
            <a:pPr lvl="1"/>
            <a:r>
              <a:rPr lang="en-IN" b="1" dirty="0"/>
              <a:t>Link:</a:t>
            </a:r>
            <a:r>
              <a:rPr lang="en-IN" dirty="0"/>
              <a:t> </a:t>
            </a:r>
            <a:r>
              <a:rPr lang="en-IN" dirty="0">
                <a:hlinkClick r:id="rId4"/>
              </a:rPr>
              <a:t>https://arxiv.org/abs/2308.11462</a:t>
            </a:r>
            <a:endParaRPr lang="en-IN" dirty="0"/>
          </a:p>
          <a:p>
            <a:pPr lvl="0"/>
            <a:r>
              <a:rPr lang="en-IN" b="1" dirty="0"/>
              <a:t>Fei, Z., et al. (2023).</a:t>
            </a:r>
            <a:r>
              <a:rPr lang="en-IN" dirty="0"/>
              <a:t> </a:t>
            </a:r>
            <a:r>
              <a:rPr lang="en-IN" i="1" dirty="0" err="1"/>
              <a:t>LawBench</a:t>
            </a:r>
            <a:r>
              <a:rPr lang="en-IN" i="1" dirty="0"/>
              <a:t>: Benchmarking Legal Knowledge of Large Language Models.</a:t>
            </a:r>
            <a:endParaRPr lang="en-IN" dirty="0"/>
          </a:p>
          <a:p>
            <a:pPr lvl="1"/>
            <a:r>
              <a:rPr lang="en-IN" b="1" dirty="0"/>
              <a:t>Focus:</a:t>
            </a:r>
            <a:r>
              <a:rPr lang="en-IN" dirty="0"/>
              <a:t> Research on evaluating LLMs on their ability to map facts to statutory laws, mirroring your IPC/BNSS mapping logic.</a:t>
            </a:r>
          </a:p>
          <a:p>
            <a:pPr lvl="1"/>
            <a:r>
              <a:rPr lang="en-IN" b="1" dirty="0"/>
              <a:t>Link:</a:t>
            </a:r>
            <a:r>
              <a:rPr lang="en-IN" dirty="0"/>
              <a:t> </a:t>
            </a:r>
            <a:r>
              <a:rPr lang="en-IN" dirty="0">
                <a:hlinkClick r:id="rId5"/>
              </a:rPr>
              <a:t>https://arxiv.org/abs/2309.16289</a:t>
            </a:r>
            <a:endParaRPr lang="en-IN" dirty="0"/>
          </a:p>
          <a:p>
            <a:endParaRPr lang="en-IN" dirty="0"/>
          </a:p>
        </p:txBody>
      </p:sp>
    </p:spTree>
    <p:extLst>
      <p:ext uri="{BB962C8B-B14F-4D97-AF65-F5344CB8AC3E}">
        <p14:creationId xmlns:p14="http://schemas.microsoft.com/office/powerpoint/2010/main" val="3563586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6672-D032-60C3-FD4C-A077D66700BE}"/>
              </a:ext>
            </a:extLst>
          </p:cNvPr>
          <p:cNvSpPr>
            <a:spLocks noGrp="1"/>
          </p:cNvSpPr>
          <p:nvPr>
            <p:ph type="title"/>
          </p:nvPr>
        </p:nvSpPr>
        <p:spPr/>
        <p:txBody>
          <a:bodyPr/>
          <a:lstStyle/>
          <a:p>
            <a:r>
              <a:rPr lang="en-US" b="1" dirty="0">
                <a:solidFill>
                  <a:srgbClr val="336699"/>
                </a:solidFill>
                <a:effectLst>
                  <a:outerShdw dist="17962" dir="2700000">
                    <a:srgbClr val="000000"/>
                  </a:outerShdw>
                </a:effectLst>
                <a:latin typeface="Times New Roman" pitchFamily="18" charset="0"/>
                <a:cs typeface="Times New Roman" pitchFamily="18" charset="0"/>
              </a:rPr>
              <a:t>References</a:t>
            </a:r>
            <a:endParaRPr lang="en-IN" dirty="0"/>
          </a:p>
        </p:txBody>
      </p:sp>
      <p:sp>
        <p:nvSpPr>
          <p:cNvPr id="3" name="Content Placeholder 2">
            <a:extLst>
              <a:ext uri="{FF2B5EF4-FFF2-40B4-BE49-F238E27FC236}">
                <a16:creationId xmlns:a16="http://schemas.microsoft.com/office/drawing/2014/main" id="{B7A762DC-A476-EADB-359D-4D871D4E9E48}"/>
              </a:ext>
            </a:extLst>
          </p:cNvPr>
          <p:cNvSpPr>
            <a:spLocks noGrp="1"/>
          </p:cNvSpPr>
          <p:nvPr>
            <p:ph idx="1"/>
          </p:nvPr>
        </p:nvSpPr>
        <p:spPr/>
        <p:txBody>
          <a:bodyPr>
            <a:normAutofit fontScale="62500" lnSpcReduction="20000"/>
          </a:bodyPr>
          <a:lstStyle/>
          <a:p>
            <a:pPr marL="0" indent="0">
              <a:buNone/>
            </a:pPr>
            <a:r>
              <a:rPr lang="en-IN" b="1" dirty="0"/>
              <a:t>4. Document Processing &amp; System Architecture - </a:t>
            </a:r>
            <a:r>
              <a:rPr lang="en-IN" dirty="0"/>
              <a:t>These papers support our input methodology (FIR ingestion) and broader AI architecture.</a:t>
            </a:r>
          </a:p>
          <a:p>
            <a:pPr lvl="0"/>
            <a:r>
              <a:rPr lang="en-IN" b="1" dirty="0"/>
              <a:t>Smith, R. (2007).</a:t>
            </a:r>
            <a:r>
              <a:rPr lang="en-IN" dirty="0"/>
              <a:t> </a:t>
            </a:r>
            <a:r>
              <a:rPr lang="en-IN" i="1" dirty="0"/>
              <a:t>An Overview of the Tesseract OCR Engine.</a:t>
            </a:r>
            <a:endParaRPr lang="en-IN" dirty="0"/>
          </a:p>
          <a:p>
            <a:pPr lvl="1"/>
            <a:r>
              <a:rPr lang="en-IN" b="1" dirty="0"/>
              <a:t>Focus:</a:t>
            </a:r>
            <a:r>
              <a:rPr lang="en-IN" dirty="0"/>
              <a:t> The foundational computer vision paper behind the Tesseract OCR engine you are using to parse scanned FIRs.</a:t>
            </a:r>
          </a:p>
          <a:p>
            <a:pPr lvl="1"/>
            <a:r>
              <a:rPr lang="en-IN" b="1" dirty="0"/>
              <a:t>Link:</a:t>
            </a:r>
            <a:r>
              <a:rPr lang="en-IN" dirty="0"/>
              <a:t> </a:t>
            </a:r>
            <a:r>
              <a:rPr lang="en-IN" dirty="0">
                <a:hlinkClick r:id="rId2"/>
              </a:rPr>
              <a:t>https://ieeexplore.ieee.org/document/4376991</a:t>
            </a:r>
            <a:endParaRPr lang="en-IN" dirty="0"/>
          </a:p>
          <a:p>
            <a:pPr lvl="0"/>
            <a:r>
              <a:rPr lang="en-IN" b="1" dirty="0"/>
              <a:t>Zhong, H., et al. (2020).</a:t>
            </a:r>
            <a:r>
              <a:rPr lang="en-IN" dirty="0"/>
              <a:t> </a:t>
            </a:r>
            <a:r>
              <a:rPr lang="en-IN" i="1" dirty="0"/>
              <a:t>How Does NLP Benefit Legal System: A Summary of Legal Artificial Intelligence.</a:t>
            </a:r>
            <a:endParaRPr lang="en-IN" dirty="0"/>
          </a:p>
          <a:p>
            <a:pPr lvl="1"/>
            <a:r>
              <a:rPr lang="en-IN" b="1" dirty="0"/>
              <a:t>Focus:</a:t>
            </a:r>
            <a:r>
              <a:rPr lang="en-IN" dirty="0"/>
              <a:t> A great overarching paper summarizing how AI platforms automate boilerplate workflows in the justice system.</a:t>
            </a:r>
          </a:p>
          <a:p>
            <a:pPr lvl="1"/>
            <a:r>
              <a:rPr lang="en-IN" b="1" dirty="0"/>
              <a:t>Link:</a:t>
            </a:r>
            <a:r>
              <a:rPr lang="en-IN" dirty="0"/>
              <a:t> </a:t>
            </a:r>
            <a:r>
              <a:rPr lang="en-IN" dirty="0">
                <a:hlinkClick r:id="rId3"/>
              </a:rPr>
              <a:t>https://arxiv.org/abs/2004.12158</a:t>
            </a:r>
            <a:endParaRPr lang="en-IN" dirty="0"/>
          </a:p>
          <a:p>
            <a:pPr lvl="0"/>
            <a:r>
              <a:rPr lang="en-IN" b="1" dirty="0"/>
              <a:t>Chalkidis, I., et al. (2021).</a:t>
            </a:r>
            <a:r>
              <a:rPr lang="en-IN" dirty="0"/>
              <a:t> </a:t>
            </a:r>
            <a:r>
              <a:rPr lang="en-IN" i="1" dirty="0" err="1"/>
              <a:t>LexGLUE</a:t>
            </a:r>
            <a:r>
              <a:rPr lang="en-IN" i="1" dirty="0"/>
              <a:t>: A Benchmark Dataset for Legal Language Understanding.</a:t>
            </a:r>
            <a:endParaRPr lang="en-IN" dirty="0"/>
          </a:p>
          <a:p>
            <a:pPr lvl="1"/>
            <a:r>
              <a:rPr lang="en-IN" b="1" dirty="0"/>
              <a:t>Focus:</a:t>
            </a:r>
            <a:r>
              <a:rPr lang="en-IN" dirty="0"/>
              <a:t> Provides standard metrics for evaluating legal AI systems across multiple tasks like information extraction and statutory reasoning.</a:t>
            </a:r>
          </a:p>
          <a:p>
            <a:pPr lvl="1"/>
            <a:r>
              <a:rPr lang="en-IN" b="1" dirty="0"/>
              <a:t>Link:</a:t>
            </a:r>
            <a:r>
              <a:rPr lang="en-IN" dirty="0"/>
              <a:t> </a:t>
            </a:r>
            <a:r>
              <a:rPr lang="en-IN" dirty="0">
                <a:hlinkClick r:id="rId4"/>
              </a:rPr>
              <a:t>https://arxiv.org/abs/2110.00976</a:t>
            </a:r>
            <a:endParaRPr lang="en-IN" dirty="0"/>
          </a:p>
          <a:p>
            <a:endParaRPr lang="en-IN" dirty="0"/>
          </a:p>
        </p:txBody>
      </p:sp>
    </p:spTree>
    <p:extLst>
      <p:ext uri="{BB962C8B-B14F-4D97-AF65-F5344CB8AC3E}">
        <p14:creationId xmlns:p14="http://schemas.microsoft.com/office/powerpoint/2010/main" val="2666701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p:cNvPicPr>
          <p:nvPr/>
        </p:nvPicPr>
        <p:blipFill>
          <a:blip r:embed="rId3" cstate="print">
            <a:alphaModFix/>
            <a:lum/>
          </a:blip>
          <a:srcRect/>
          <a:stretch>
            <a:fillRect/>
          </a:stretch>
        </p:blipFill>
        <p:spPr>
          <a:xfrm>
            <a:off x="1904884" y="1295284"/>
            <a:ext cx="7543800" cy="4800600"/>
          </a:xfrm>
          <a:prstGeom prst="rect">
            <a:avLst/>
          </a:prstGeom>
          <a:noFill/>
          <a:ln>
            <a:noFill/>
          </a:ln>
        </p:spPr>
      </p:pic>
      <p:sp>
        <p:nvSpPr>
          <p:cNvPr id="6" name="Slide Number Placeholder 5"/>
          <p:cNvSpPr>
            <a:spLocks noGrp="1"/>
          </p:cNvSpPr>
          <p:nvPr>
            <p:ph type="sldNum" sz="quarter" idx="4294967295"/>
          </p:nvPr>
        </p:nvSpPr>
        <p:spPr>
          <a:xfrm>
            <a:off x="9455174" y="6325550"/>
            <a:ext cx="2057400" cy="365129"/>
          </a:xfrm>
          <a:prstGeom prst="rect">
            <a:avLst/>
          </a:prstGeom>
        </p:spPr>
        <p:txBody>
          <a:bodyPr/>
          <a:lstStyle/>
          <a:p>
            <a:pPr lvl="0"/>
            <a:fld id="{041546D6-25D2-4E08-B705-3CDDCADBC19E}" type="slidenum">
              <a:rPr lang="en-US" smtClean="0"/>
              <a:pPr lvl="0"/>
              <a:t>15</a:t>
            </a:fld>
            <a:endParaRPr lang="en-US" dirty="0"/>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1078</TotalTime>
  <Words>2069</Words>
  <Application>Microsoft Office PowerPoint</Application>
  <PresentationFormat>Widescreen</PresentationFormat>
  <Paragraphs>145</Paragraphs>
  <Slides>15</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 Narrow</vt:lpstr>
      <vt:lpstr>Calibri</vt:lpstr>
      <vt:lpstr>Cambria Math</vt:lpstr>
      <vt:lpstr>Liberation Serif</vt:lpstr>
      <vt:lpstr>Times New Roman</vt:lpstr>
      <vt:lpstr>Wingdings</vt:lpstr>
      <vt:lpstr>Office Theme</vt:lpstr>
      <vt:lpstr>    Project Stage-I  Presentation  on  Nyaya AI </vt:lpstr>
      <vt:lpstr>PowerPoint Presentation</vt:lpstr>
      <vt:lpstr>Flow of Presentation</vt:lpstr>
      <vt:lpstr>Introduction</vt:lpstr>
      <vt:lpstr>Motivation</vt:lpstr>
      <vt:lpstr>Problem Statement</vt:lpstr>
      <vt:lpstr>Literature Survey</vt:lpstr>
      <vt:lpstr>Project Work Flow</vt:lpstr>
      <vt:lpstr>PowerPoint Presentation</vt:lpstr>
      <vt:lpstr>Algorithm/Mathematical Model</vt:lpstr>
      <vt:lpstr>References</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shravani</dc:creator>
  <cp:lastModifiedBy>Yash Limbhore C66</cp:lastModifiedBy>
  <cp:revision>178</cp:revision>
  <cp:lastPrinted>2023-10-12T03:40:42Z</cp:lastPrinted>
  <dcterms:created xsi:type="dcterms:W3CDTF">2016-03-20T09:05:28Z</dcterms:created>
  <dcterms:modified xsi:type="dcterms:W3CDTF">2026-10-14T09:17:46Z</dcterms:modified>
</cp:coreProperties>
</file>